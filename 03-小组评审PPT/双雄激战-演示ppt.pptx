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6.xml" ContentType="application/vnd.openxmlformats-officedocument.theme+xml"/>
  <Override PartName="/ppt/slideLayouts/slideLayout46.xml" ContentType="application/vnd.openxmlformats-officedocument.presentationml.slideLayout+xml"/>
  <Override PartName="/ppt/theme/theme7.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2"/>
    <p:sldMasterId id="2147483667" r:id="rId3"/>
    <p:sldMasterId id="2147483676" r:id="rId4"/>
    <p:sldMasterId id="2147483685" r:id="rId5"/>
    <p:sldMasterId id="2147483694" r:id="rId6"/>
    <p:sldMasterId id="2147483699" r:id="rId7"/>
    <p:sldMasterId id="2147483701" r:id="rId8"/>
  </p:sldMasterIdLst>
  <p:notesMasterIdLst>
    <p:notesMasterId r:id="rId41"/>
  </p:notesMasterIdLst>
  <p:handoutMasterIdLst>
    <p:handoutMasterId r:id="rId42"/>
  </p:handoutMasterIdLst>
  <p:sldIdLst>
    <p:sldId id="5820" r:id="rId9"/>
    <p:sldId id="5903" r:id="rId10"/>
    <p:sldId id="6299" r:id="rId11"/>
    <p:sldId id="6583" r:id="rId12"/>
    <p:sldId id="6584" r:id="rId13"/>
    <p:sldId id="6585" r:id="rId14"/>
    <p:sldId id="6586" r:id="rId15"/>
    <p:sldId id="6587" r:id="rId16"/>
    <p:sldId id="6588" r:id="rId17"/>
    <p:sldId id="6589" r:id="rId18"/>
    <p:sldId id="6590" r:id="rId19"/>
    <p:sldId id="6592" r:id="rId20"/>
    <p:sldId id="6593" r:id="rId21"/>
    <p:sldId id="6594" r:id="rId22"/>
    <p:sldId id="6595" r:id="rId23"/>
    <p:sldId id="6596" r:id="rId24"/>
    <p:sldId id="6597" r:id="rId25"/>
    <p:sldId id="6599" r:id="rId26"/>
    <p:sldId id="6600" r:id="rId27"/>
    <p:sldId id="6601" r:id="rId28"/>
    <p:sldId id="6602" r:id="rId29"/>
    <p:sldId id="6603" r:id="rId30"/>
    <p:sldId id="6604" r:id="rId31"/>
    <p:sldId id="6605" r:id="rId32"/>
    <p:sldId id="6606" r:id="rId33"/>
    <p:sldId id="6607" r:id="rId34"/>
    <p:sldId id="6608" r:id="rId35"/>
    <p:sldId id="6609" r:id="rId36"/>
    <p:sldId id="6610" r:id="rId37"/>
    <p:sldId id="6611" r:id="rId38"/>
    <p:sldId id="6612" r:id="rId39"/>
    <p:sldId id="394" r:id="rId40"/>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C8E3F99-1F2C-464F-AEDA-C94A00424118}">
          <p14:sldIdLst>
            <p14:sldId id="5820"/>
            <p14:sldId id="5903"/>
            <p14:sldId id="6299"/>
            <p14:sldId id="6583"/>
            <p14:sldId id="6584"/>
            <p14:sldId id="6585"/>
            <p14:sldId id="6586"/>
            <p14:sldId id="6587"/>
            <p14:sldId id="6588"/>
            <p14:sldId id="6589"/>
            <p14:sldId id="6590"/>
            <p14:sldId id="6592"/>
            <p14:sldId id="6593"/>
            <p14:sldId id="6594"/>
            <p14:sldId id="6595"/>
            <p14:sldId id="6596"/>
            <p14:sldId id="6597"/>
            <p14:sldId id="6599"/>
            <p14:sldId id="6600"/>
            <p14:sldId id="6601"/>
            <p14:sldId id="6602"/>
            <p14:sldId id="6603"/>
            <p14:sldId id="6604"/>
            <p14:sldId id="6605"/>
            <p14:sldId id="6606"/>
            <p14:sldId id="6607"/>
            <p14:sldId id="6608"/>
            <p14:sldId id="6609"/>
            <p14:sldId id="6610"/>
            <p14:sldId id="6611"/>
            <p14:sldId id="6612"/>
            <p14:sldId id="394"/>
          </p14:sldIdLst>
        </p14:section>
      </p14:sectionLst>
    </p:ext>
    <p:ext uri="{EFAFB233-063F-42B5-8137-9DF3F51BA10A}">
      <p15:sldGuideLst xmlns:p15="http://schemas.microsoft.com/office/powerpoint/2012/main">
        <p15:guide id="1" orient="horz" pos="2137" userDrawn="1">
          <p15:clr>
            <a:srgbClr val="A4A3A4"/>
          </p15:clr>
        </p15:guide>
        <p15:guide id="2" pos="385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angjiaxin (Jacky, Unified Storage Marketing)" initials="W(USM" lastIdx="1" clrIdx="0"/>
  <p:cmAuthor id="1" name="Administrator" initials="A" lastIdx="2" clrIdx="0"/>
  <p:cmAuthor id="2" name="ZRGJ" initials="Z" lastIdx="1" clrIdx="1"/>
  <p:cmAuthor id="3" name="luoya" initials="l" lastIdx="1" clrIdx="2"/>
  <p:cmAuthor id="17" name="李志军" initials="lzj" lastIdx="1" clrIdx="16"/>
  <p:cmAuthor id="4" name="张 雪松" initials="张" lastIdx="2" clrIdx="3"/>
  <p:cmAuthor id="18" name="lisa" initials="l" lastIdx="2" clrIdx="17"/>
  <p:cmAuthor id="5" name="fan yis" initials="fy"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FE6E1"/>
    <a:srgbClr val="FD5C0C"/>
    <a:srgbClr val="F85E08"/>
    <a:srgbClr val="FF6C0D"/>
    <a:srgbClr val="FEF5E2"/>
    <a:srgbClr val="FEECE2"/>
    <a:srgbClr val="FF7373"/>
    <a:srgbClr val="FEF0E8"/>
    <a:srgbClr val="FE9B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509" autoAdjust="0"/>
    <p:restoredTop sz="89522" autoAdjust="0"/>
  </p:normalViewPr>
  <p:slideViewPr>
    <p:cSldViewPr snapToGrid="0" showGuides="1">
      <p:cViewPr varScale="1">
        <p:scale>
          <a:sx n="142" d="100"/>
          <a:sy n="142" d="100"/>
        </p:scale>
        <p:origin x="270" y="138"/>
      </p:cViewPr>
      <p:guideLst>
        <p:guide orient="horz" pos="2137"/>
        <p:guide pos="3853"/>
      </p:guideLst>
    </p:cSldViewPr>
  </p:slideViewPr>
  <p:outlineViewPr>
    <p:cViewPr>
      <p:scale>
        <a:sx n="33" d="100"/>
        <a:sy n="33" d="100"/>
      </p:scale>
      <p:origin x="0" y="2118"/>
    </p:cViewPr>
  </p:outlineViewPr>
  <p:notesTextViewPr>
    <p:cViewPr>
      <p:scale>
        <a:sx n="125" d="100"/>
        <a:sy n="125" d="100"/>
      </p:scale>
      <p:origin x="0" y="0"/>
    </p:cViewPr>
  </p:notesTextViewPr>
  <p:sorterViewPr>
    <p:cViewPr>
      <p:scale>
        <a:sx n="66" d="100"/>
        <a:sy n="66" d="100"/>
      </p:scale>
      <p:origin x="0" y="0"/>
    </p:cViewPr>
  </p:sorterViewPr>
  <p:notesViewPr>
    <p:cSldViewPr snapToGrid="0">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F0A603-9B2F-4BB7-BEEE-6E0FE7239E34}" type="datetimeFigureOut">
              <a:rPr lang="zh-CN" altLang="en-US" smtClean="0"/>
              <a:t>2024/12/28</a:t>
            </a:fld>
            <a:endParaRPr lang="zh-CN"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3C6719-5532-4E4C-BD10-24C610D0E2C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5.xml"/><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10720"/>
            <a:ext cx="12192002"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8"/>
            <a:ext cx="11734800" cy="1655762"/>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10758"/>
            <a:ext cx="12192002" cy="686875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sp>
        <p:nvSpPr>
          <p:cNvPr id="2"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a:ln w="18415" cmpd="sng">
                  <a:noFill/>
                  <a:prstDash val="solid"/>
                </a:ln>
                <a:solidFill>
                  <a:srgbClr val="FFFFFF"/>
                </a:solidFill>
                <a:effectLst/>
                <a:latin typeface="微软雅黑" panose="020B0503020204020204" charset="-122"/>
                <a:ea typeface="微软雅黑" panose="020B0503020204020204" charset="-122"/>
                <a:cs typeface="微软雅黑" panose="020B0503020204020204" charset="-122"/>
              </a:rPr>
              <a:t>目录</a:t>
            </a:r>
          </a:p>
        </p:txBody>
      </p:sp>
      <p:sp>
        <p:nvSpPr>
          <p:cNvPr id="4" name="文本占位符 3"/>
          <p:cNvSpPr>
            <a:spLocks noGrp="1"/>
          </p:cNvSpPr>
          <p:nvPr>
            <p:ph type="body" sz="quarter" idx="13" hasCustomPrompt="1"/>
          </p:nvPr>
        </p:nvSpPr>
        <p:spPr>
          <a:xfrm>
            <a:off x="575982" y="1360047"/>
            <a:ext cx="5932394"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4"/>
            <a:endParaRPr lang="zh-CN" altLang="en-US" dirty="0"/>
          </a:p>
        </p:txBody>
      </p:sp>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2" y="1089212"/>
            <a:ext cx="5443818"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2"/>
            <a:ext cx="5443818"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2" y="1080661"/>
            <a:ext cx="5421594"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2" y="1815152"/>
            <a:ext cx="5421594"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1"/>
            <a:ext cx="5443818"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8"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t>‹#›</a:t>
            </a:fld>
            <a:endParaRPr lang="zh-CN" altLang="en-US"/>
          </a:p>
        </p:txBody>
      </p:sp>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32274"/>
            <a:ext cx="12192002" cy="6890273"/>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束语">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5" name="Picture 2" descr="F:\Design\CSI Default\brand\中软国际LOGO_白.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95325" y="397211"/>
            <a:ext cx="1116000" cy="4949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21515"/>
            <a:ext cx="12192003"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7"/>
            <a:ext cx="11734800" cy="1655763"/>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65"/>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10758"/>
            <a:ext cx="12192003" cy="6868759"/>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
        <p:nvSpPr>
          <p:cNvPr id="13" name="文本框 4"/>
          <p:cNvSpPr txBox="1">
            <a:spLocks noChangeArrowheads="1"/>
          </p:cNvSpPr>
          <p:nvPr userDrawn="1"/>
        </p:nvSpPr>
        <p:spPr bwMode="auto">
          <a:xfrm>
            <a:off x="575982" y="236407"/>
            <a:ext cx="3811308" cy="707886"/>
          </a:xfrm>
          <a:prstGeom prst="rect">
            <a:avLst/>
          </a:prstGeom>
          <a:noFill/>
          <a:ln>
            <a:noFill/>
          </a:ln>
        </p:spPr>
        <p:txBody>
          <a:bodyPr wrap="square" lIns="91440" tIns="45720" rIns="91440" bIns="45720">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defTabSz="914400">
              <a:defRPr/>
            </a:pPr>
            <a:r>
              <a:rPr lang="zh-CN" altLang="en-US" sz="4000" b="1">
                <a:ln w="18415" cmpd="sng">
                  <a:noFill/>
                  <a:prstDash val="solid"/>
                </a:ln>
                <a:solidFill>
                  <a:srgbClr val="FFFFFF"/>
                </a:solidFill>
                <a:latin typeface="微软雅黑" panose="020B0503020204020204" charset="-122"/>
                <a:ea typeface="微软雅黑" panose="020B0503020204020204" charset="-122"/>
                <a:cs typeface="微软雅黑" panose="020B0503020204020204" charset="-122"/>
              </a:rPr>
              <a:t>目录</a:t>
            </a:r>
          </a:p>
        </p:txBody>
      </p:sp>
      <p:sp>
        <p:nvSpPr>
          <p:cNvPr id="44" name="文本占位符 43"/>
          <p:cNvSpPr>
            <a:spLocks noGrp="1"/>
          </p:cNvSpPr>
          <p:nvPr>
            <p:ph type="body" sz="quarter" idx="13" hasCustomPrompt="1"/>
          </p:nvPr>
        </p:nvSpPr>
        <p:spPr>
          <a:xfrm>
            <a:off x="575981" y="1360047"/>
            <a:ext cx="5932395"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6" y="87641"/>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4"/>
            <a:endParaRPr lang="zh-CN" altLang="en-US" dirty="0"/>
          </a:p>
        </p:txBody>
      </p:sp>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1" y="1089214"/>
            <a:ext cx="5443819"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4"/>
            <a:ext cx="5443819"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8"/>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1" y="1080662"/>
            <a:ext cx="5421595" cy="611661"/>
          </a:xfrm>
        </p:spPr>
        <p:txBody>
          <a:bodyPr anchor="t"/>
          <a:lstStyle>
            <a:lvl1pPr marL="0" indent="0">
              <a:buNone/>
              <a:defRPr sz="2400" b="1"/>
            </a:lvl1pPr>
            <a:lvl2pPr marL="457200" indent="0">
              <a:buNone/>
              <a:defRPr sz="2000" b="1"/>
            </a:lvl2pPr>
            <a:lvl3pPr marL="914400" indent="0">
              <a:buNone/>
              <a:defRPr sz="1865"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1" y="1815152"/>
            <a:ext cx="5421595"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2"/>
            <a:ext cx="5443819" cy="611661"/>
          </a:xfrm>
        </p:spPr>
        <p:txBody>
          <a:bodyPr anchor="t"/>
          <a:lstStyle>
            <a:lvl1pPr marL="0" indent="0">
              <a:buNone/>
              <a:defRPr sz="2400" b="1"/>
            </a:lvl1pPr>
            <a:lvl2pPr marL="457200" indent="0">
              <a:buNone/>
              <a:defRPr sz="2000" b="1"/>
            </a:lvl2pPr>
            <a:lvl3pPr marL="914400" indent="0">
              <a:buNone/>
              <a:defRPr sz="1865"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9"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32273"/>
            <a:ext cx="12192003" cy="68902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
          <p:cNvSpPr>
            <a:spLocks noChangeArrowheads="1"/>
          </p:cNvSpPr>
          <p:nvPr userDrawn="1"/>
        </p:nvSpPr>
        <p:spPr bwMode="auto">
          <a:xfrm>
            <a:off x="2737159" y="2424772"/>
            <a:ext cx="8083171" cy="1826269"/>
          </a:xfrm>
          <a:prstGeom prst="rect">
            <a:avLst/>
          </a:prstGeom>
          <a:noFill/>
          <a:ln>
            <a:noFill/>
          </a:ln>
        </p:spPr>
        <p:txBody>
          <a:bodyPr wrap="square" lIns="91440" tIns="45720" rIns="91440" bIns="45720">
            <a:spAutoFit/>
          </a:bodyPr>
          <a:lstStyle/>
          <a:p>
            <a:pPr defTabSz="914400">
              <a:lnSpc>
                <a:spcPct val="135000"/>
              </a:lnSpc>
              <a:buFont typeface="Arial" panose="020B0604020202020204" pitchFamily="34" charset="0"/>
              <a:buNone/>
              <a:defRPr/>
            </a:pPr>
            <a:r>
              <a:rPr lang="zh-CN" altLang="en-US" sz="440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谢 谢！</a:t>
            </a:r>
            <a:endPar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endParaRPr>
          </a:p>
          <a:p>
            <a:pPr defTabSz="914400">
              <a:lnSpc>
                <a:spcPct val="135000"/>
              </a:lnSpc>
              <a:buFont typeface="Arial" panose="020B0604020202020204" pitchFamily="34" charset="0"/>
              <a:buNone/>
              <a:defRPr/>
            </a:pPr>
            <a:r>
              <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Thanks!</a:t>
            </a:r>
          </a:p>
        </p:txBody>
      </p:sp>
      <p:sp>
        <p:nvSpPr>
          <p:cNvPr id="11"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sp>
        <p:nvSpPr>
          <p:cNvPr id="24"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21515"/>
            <a:ext cx="12192003"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7"/>
            <a:ext cx="11734800" cy="1655763"/>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65"/>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10758"/>
            <a:ext cx="12192003" cy="6868759"/>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
        <p:nvSpPr>
          <p:cNvPr id="13" name="文本框 4"/>
          <p:cNvSpPr txBox="1">
            <a:spLocks noChangeArrowheads="1"/>
          </p:cNvSpPr>
          <p:nvPr userDrawn="1"/>
        </p:nvSpPr>
        <p:spPr bwMode="auto">
          <a:xfrm>
            <a:off x="575982" y="236407"/>
            <a:ext cx="3811308" cy="707886"/>
          </a:xfrm>
          <a:prstGeom prst="rect">
            <a:avLst/>
          </a:prstGeom>
          <a:noFill/>
          <a:ln>
            <a:noFill/>
          </a:ln>
        </p:spPr>
        <p:txBody>
          <a:bodyPr wrap="square" lIns="91440" tIns="45720" rIns="91440" bIns="45720">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defTabSz="914400">
              <a:defRPr/>
            </a:pPr>
            <a:r>
              <a:rPr lang="zh-CN" altLang="en-US" sz="4000" b="1">
                <a:ln w="18415" cmpd="sng">
                  <a:noFill/>
                  <a:prstDash val="solid"/>
                </a:ln>
                <a:solidFill>
                  <a:srgbClr val="FFFFFF"/>
                </a:solidFill>
                <a:latin typeface="微软雅黑" panose="020B0503020204020204" charset="-122"/>
                <a:ea typeface="微软雅黑" panose="020B0503020204020204" charset="-122"/>
                <a:cs typeface="微软雅黑" panose="020B0503020204020204" charset="-122"/>
              </a:rPr>
              <a:t>目录</a:t>
            </a:r>
          </a:p>
        </p:txBody>
      </p:sp>
      <p:sp>
        <p:nvSpPr>
          <p:cNvPr id="44" name="文本占位符 43"/>
          <p:cNvSpPr>
            <a:spLocks noGrp="1"/>
          </p:cNvSpPr>
          <p:nvPr>
            <p:ph type="body" sz="quarter" idx="13" hasCustomPrompt="1"/>
          </p:nvPr>
        </p:nvSpPr>
        <p:spPr>
          <a:xfrm>
            <a:off x="575981" y="1360047"/>
            <a:ext cx="5932395"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6" y="87641"/>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4"/>
            <a:endParaRPr lang="zh-CN" altLang="en-US" dirty="0"/>
          </a:p>
        </p:txBody>
      </p:sp>
      <p:sp>
        <p:nvSpPr>
          <p:cNvPr id="6" name="灯片编号占位符 5"/>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1" y="1089214"/>
            <a:ext cx="5443819"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4"/>
            <a:ext cx="5443819"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8"/>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1" y="1080662"/>
            <a:ext cx="5421595" cy="611661"/>
          </a:xfrm>
        </p:spPr>
        <p:txBody>
          <a:bodyPr anchor="t"/>
          <a:lstStyle>
            <a:lvl1pPr marL="0" indent="0">
              <a:buNone/>
              <a:defRPr sz="2400" b="1"/>
            </a:lvl1pPr>
            <a:lvl2pPr marL="457200" indent="0">
              <a:buNone/>
              <a:defRPr sz="2000" b="1"/>
            </a:lvl2pPr>
            <a:lvl3pPr marL="914400" indent="0">
              <a:buNone/>
              <a:defRPr sz="1865"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1" y="1815152"/>
            <a:ext cx="5421595"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2"/>
            <a:ext cx="5443819" cy="611661"/>
          </a:xfrm>
        </p:spPr>
        <p:txBody>
          <a:bodyPr anchor="t"/>
          <a:lstStyle>
            <a:lvl1pPr marL="0" indent="0">
              <a:buNone/>
              <a:defRPr sz="2400" b="1"/>
            </a:lvl1pPr>
            <a:lvl2pPr marL="457200" indent="0">
              <a:buNone/>
              <a:defRPr sz="2000" b="1"/>
            </a:lvl2pPr>
            <a:lvl3pPr marL="914400" indent="0">
              <a:buNone/>
              <a:defRPr sz="1865"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9"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32273"/>
            <a:ext cx="12192003" cy="6890273"/>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1"/>
          <p:cNvSpPr>
            <a:spLocks noChangeArrowheads="1"/>
          </p:cNvSpPr>
          <p:nvPr userDrawn="1"/>
        </p:nvSpPr>
        <p:spPr bwMode="auto">
          <a:xfrm>
            <a:off x="2737159" y="2424772"/>
            <a:ext cx="8083171" cy="1826269"/>
          </a:xfrm>
          <a:prstGeom prst="rect">
            <a:avLst/>
          </a:prstGeom>
          <a:noFill/>
          <a:ln>
            <a:noFill/>
          </a:ln>
        </p:spPr>
        <p:txBody>
          <a:bodyPr wrap="square" lIns="91440" tIns="45720" rIns="91440" bIns="45720">
            <a:spAutoFit/>
          </a:bodyPr>
          <a:lstStyle/>
          <a:p>
            <a:pPr defTabSz="914400">
              <a:lnSpc>
                <a:spcPct val="135000"/>
              </a:lnSpc>
              <a:buFont typeface="Arial" panose="020B0604020202020204" pitchFamily="34" charset="0"/>
              <a:buNone/>
              <a:defRPr/>
            </a:pPr>
            <a:r>
              <a:rPr lang="zh-CN" altLang="en-US" sz="440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谢 谢！</a:t>
            </a:r>
            <a:endPar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endParaRPr>
          </a:p>
          <a:p>
            <a:pPr defTabSz="914400">
              <a:lnSpc>
                <a:spcPct val="135000"/>
              </a:lnSpc>
              <a:buFont typeface="Arial" panose="020B0604020202020204" pitchFamily="34" charset="0"/>
              <a:buNone/>
              <a:defRPr/>
            </a:pPr>
            <a:r>
              <a:rPr lang="en-US" altLang="zh-CN" sz="4400" dirty="0">
                <a:ln w="18415" cmpd="sng">
                  <a:solidFill>
                    <a:srgbClr val="FFFFFF"/>
                  </a:solidFill>
                  <a:prstDash val="solid"/>
                </a:ln>
                <a:solidFill>
                  <a:srgbClr val="FFFFFF"/>
                </a:solidFill>
                <a:latin typeface="微软雅黑" panose="020B0503020204020204" charset="-122"/>
                <a:cs typeface="微软雅黑" panose="020B0503020204020204" charset="-122"/>
                <a:sym typeface="微软雅黑" panose="020B0503020204020204" charset="-122"/>
              </a:rPr>
              <a:t>Thanks!</a:t>
            </a:r>
          </a:p>
        </p:txBody>
      </p:sp>
      <p:sp>
        <p:nvSpPr>
          <p:cNvPr id="11"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sp>
        <p:nvSpPr>
          <p:cNvPr id="24"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400"/>
            <a:endParaRPr lang="zh-CN" altLang="en-US" sz="1865">
              <a:solidFill>
                <a:prstClr val="white"/>
              </a:solidFill>
            </a:endParaRPr>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10720"/>
            <a:ext cx="12192002"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8"/>
            <a:ext cx="11734800" cy="1655762"/>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10758"/>
            <a:ext cx="12192002" cy="686875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sp>
        <p:nvSpPr>
          <p:cNvPr id="2"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a:ln w="18415" cmpd="sng">
                  <a:noFill/>
                  <a:prstDash val="solid"/>
                </a:ln>
                <a:solidFill>
                  <a:srgbClr val="FFFFFF"/>
                </a:solidFill>
                <a:effectLst/>
                <a:latin typeface="微软雅黑" panose="020B0503020204020204" charset="-122"/>
                <a:ea typeface="微软雅黑" panose="020B0503020204020204" charset="-122"/>
                <a:cs typeface="微软雅黑" panose="020B0503020204020204" charset="-122"/>
              </a:rPr>
              <a:t>目录</a:t>
            </a:r>
          </a:p>
        </p:txBody>
      </p:sp>
      <p:sp>
        <p:nvSpPr>
          <p:cNvPr id="4" name="文本占位符 3"/>
          <p:cNvSpPr>
            <a:spLocks noGrp="1"/>
          </p:cNvSpPr>
          <p:nvPr>
            <p:ph type="body" sz="quarter" idx="13" hasCustomPrompt="1"/>
          </p:nvPr>
        </p:nvSpPr>
        <p:spPr>
          <a:xfrm>
            <a:off x="575982" y="1360047"/>
            <a:ext cx="5932394"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4"/>
            <a:endParaRPr lang="zh-CN" altLang="en-US" dirty="0"/>
          </a:p>
        </p:txBody>
      </p:sp>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2" y="1089212"/>
            <a:ext cx="5443818"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2"/>
            <a:ext cx="5443818"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2" y="1080661"/>
            <a:ext cx="5421594"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2" y="1815152"/>
            <a:ext cx="5421594"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1"/>
            <a:ext cx="5443818"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8"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t>‹#›</a:t>
            </a:fld>
            <a:endParaRPr lang="zh-CN" altLang="en-US"/>
          </a:p>
        </p:txBody>
      </p:sp>
      <p:sp>
        <p:nvSpPr>
          <p:cNvPr id="2" name="标题 1"/>
          <p:cNvSpPr>
            <a:spLocks noGrp="1"/>
          </p:cNvSpPr>
          <p:nvPr>
            <p:ph type="title"/>
          </p:nvPr>
        </p:nvSpPr>
        <p:spPr>
          <a:xfrm>
            <a:off x="575981" y="75266"/>
            <a:ext cx="8748000" cy="687369"/>
          </a:xfrm>
        </p:spPr>
        <p:txBody>
          <a:bodyPr/>
          <a:lstStyle/>
          <a:p>
            <a:r>
              <a:rPr lang="zh-CN" altLang="en-US"/>
              <a:t>单击此处编辑母版标题样式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2" y="-32274"/>
            <a:ext cx="12192002" cy="6890273"/>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10"/>
          <p:cNvSpPr/>
          <p:nvPr userDrawn="1"/>
        </p:nvSpPr>
        <p:spPr>
          <a:xfrm>
            <a:off x="11308976" y="6703983"/>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2"/>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5" y="6167112"/>
            <a:ext cx="6875863" cy="372584"/>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027"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10720"/>
            <a:ext cx="12192003" cy="687951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457200" y="1122363"/>
            <a:ext cx="11734800" cy="2387600"/>
          </a:xfrm>
        </p:spPr>
        <p:txBody>
          <a:bodyPr anchor="b">
            <a:normAutofit/>
          </a:bodyPr>
          <a:lstStyle>
            <a:lvl1pPr algn="l">
              <a:lnSpc>
                <a:spcPct val="150000"/>
              </a:lnSpc>
              <a:defRPr sz="4800" b="1"/>
            </a:lvl1pPr>
          </a:lstStyle>
          <a:p>
            <a:r>
              <a:rPr lang="zh-CN" altLang="en-US" dirty="0"/>
              <a:t>单击此处编辑母版标题样式</a:t>
            </a:r>
          </a:p>
        </p:txBody>
      </p:sp>
      <p:sp>
        <p:nvSpPr>
          <p:cNvPr id="3" name="副标题 2"/>
          <p:cNvSpPr>
            <a:spLocks noGrp="1"/>
          </p:cNvSpPr>
          <p:nvPr>
            <p:ph type="subTitle" idx="1"/>
          </p:nvPr>
        </p:nvSpPr>
        <p:spPr>
          <a:xfrm>
            <a:off x="457200" y="3602037"/>
            <a:ext cx="11734800" cy="1655763"/>
          </a:xfrm>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矩形 3"/>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6"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10758"/>
            <a:ext cx="12192003" cy="6868759"/>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pic>
        <p:nvPicPr>
          <p:cNvPr id="7" name="图片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sp>
        <p:nvSpPr>
          <p:cNvPr id="2" name="文本框 4"/>
          <p:cNvSpPr txBox="1">
            <a:spLocks noChangeArrowheads="1"/>
          </p:cNvSpPr>
          <p:nvPr userDrawn="1"/>
        </p:nvSpPr>
        <p:spPr bwMode="auto">
          <a:xfrm>
            <a:off x="575982" y="236407"/>
            <a:ext cx="3811308" cy="707886"/>
          </a:xfrm>
          <a:prstGeom prst="rect">
            <a:avLst/>
          </a:prstGeom>
          <a:noFill/>
          <a:ln>
            <a:noFill/>
          </a:ln>
        </p:spPr>
        <p:txBody>
          <a:bodyPr wrap="square">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defRPr/>
            </a:pPr>
            <a:r>
              <a:rPr lang="zh-CN" altLang="en-US" sz="4000" b="1">
                <a:ln w="18415" cmpd="sng">
                  <a:noFill/>
                  <a:prstDash val="solid"/>
                </a:ln>
                <a:solidFill>
                  <a:srgbClr val="FFFFFF"/>
                </a:solidFill>
                <a:effectLst/>
                <a:latin typeface="微软雅黑" panose="020B0503020204020204" charset="-122"/>
                <a:ea typeface="微软雅黑" panose="020B0503020204020204" charset="-122"/>
                <a:cs typeface="微软雅黑" panose="020B0503020204020204" charset="-122"/>
              </a:rPr>
              <a:t>目录</a:t>
            </a:r>
          </a:p>
        </p:txBody>
      </p:sp>
      <p:sp>
        <p:nvSpPr>
          <p:cNvPr id="4" name="文本占位符 3"/>
          <p:cNvSpPr>
            <a:spLocks noGrp="1"/>
          </p:cNvSpPr>
          <p:nvPr>
            <p:ph type="body" sz="quarter" idx="13" hasCustomPrompt="1"/>
          </p:nvPr>
        </p:nvSpPr>
        <p:spPr>
          <a:xfrm>
            <a:off x="575981" y="1360047"/>
            <a:ext cx="5932395" cy="4718024"/>
          </a:xfrm>
        </p:spPr>
        <p:txBody>
          <a:bodyPr/>
          <a:lstStyle>
            <a:lvl1pPr marL="457200" indent="-457200">
              <a:lnSpc>
                <a:spcPct val="150000"/>
              </a:lnSpc>
              <a:spcAft>
                <a:spcPts val="300"/>
              </a:spcAft>
              <a:buFont typeface="+mj-lt"/>
              <a:buAutoNum type="arabicPeriod"/>
              <a:defRPr>
                <a:solidFill>
                  <a:schemeClr val="bg1"/>
                </a:solidFill>
              </a:defRPr>
            </a:lvl1pPr>
          </a:lstStyle>
          <a:p>
            <a:pPr lvl="0"/>
            <a:r>
              <a:rPr lang="zh-CN" altLang="en-US" dirty="0"/>
              <a:t>单击此处编辑目录文本样式</a:t>
            </a:r>
            <a:endParaRPr lang="en-US" altLang="zh-CN"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6" y="87641"/>
            <a:ext cx="9009657" cy="647699"/>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a:p>
            <a:pPr lvl="4"/>
            <a:endParaRPr lang="zh-CN" altLang="en-US" dirty="0"/>
          </a:p>
        </p:txBody>
      </p:sp>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1" y="87641"/>
            <a:ext cx="9000132" cy="647699"/>
          </a:xfrm>
        </p:spPr>
        <p:txBody>
          <a:bodyPr/>
          <a:lstStyle/>
          <a:p>
            <a:r>
              <a:rPr lang="zh-CN" altLang="en-US" dirty="0"/>
              <a:t>单击此处编辑母版标题样式</a:t>
            </a:r>
          </a:p>
        </p:txBody>
      </p:sp>
      <p:sp>
        <p:nvSpPr>
          <p:cNvPr id="3" name="内容占位符 2"/>
          <p:cNvSpPr>
            <a:spLocks noGrp="1"/>
          </p:cNvSpPr>
          <p:nvPr>
            <p:ph sz="half" idx="1"/>
          </p:nvPr>
        </p:nvSpPr>
        <p:spPr>
          <a:xfrm>
            <a:off x="575981" y="1089214"/>
            <a:ext cx="5443819"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089214"/>
            <a:ext cx="5443819" cy="508775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灯片编号占位符 6"/>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5981" y="75268"/>
            <a:ext cx="8748000" cy="687369"/>
          </a:xfrm>
        </p:spPr>
        <p:txBody>
          <a:bodyPr/>
          <a:lstStyle/>
          <a:p>
            <a:r>
              <a:rPr lang="zh-CN" altLang="en-US"/>
              <a:t>单击此处编辑母版标题样式</a:t>
            </a:r>
          </a:p>
        </p:txBody>
      </p:sp>
      <p:sp>
        <p:nvSpPr>
          <p:cNvPr id="3" name="文本占位符 2"/>
          <p:cNvSpPr>
            <a:spLocks noGrp="1"/>
          </p:cNvSpPr>
          <p:nvPr>
            <p:ph type="body" idx="1"/>
          </p:nvPr>
        </p:nvSpPr>
        <p:spPr>
          <a:xfrm>
            <a:off x="575981" y="1080662"/>
            <a:ext cx="5421595"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5981" y="1815152"/>
            <a:ext cx="5421595"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0662"/>
            <a:ext cx="5443819" cy="611661"/>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1815152"/>
            <a:ext cx="5443819" cy="4374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灯片编号占位符 8"/>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B1B0860-3CE7-4EC1-80B2-E4FAEF86BBEB}" type="slidenum">
              <a:rPr lang="zh-CN" altLang="en-US" smtClean="0"/>
              <a:t>‹#›</a:t>
            </a:fld>
            <a:endParaRPr lang="zh-CN" altLang="en-US"/>
          </a:p>
        </p:txBody>
      </p:sp>
      <p:sp>
        <p:nvSpPr>
          <p:cNvPr id="2" name="标题 1"/>
          <p:cNvSpPr>
            <a:spLocks noGrp="1"/>
          </p:cNvSpPr>
          <p:nvPr>
            <p:ph type="title"/>
          </p:nvPr>
        </p:nvSpPr>
        <p:spPr>
          <a:xfrm>
            <a:off x="575981" y="75268"/>
            <a:ext cx="8748000" cy="687369"/>
          </a:xfrm>
        </p:spPr>
        <p:txBody>
          <a:bodyPr/>
          <a:lstStyle/>
          <a:p>
            <a:r>
              <a:rPr lang="zh-CN" altLang="en-US"/>
              <a:t>单击此处编辑母版标题样式</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pic>
        <p:nvPicPr>
          <p:cNvPr id="14" name="Picture 3" descr="C:\Users\qq\Desktop\金沙江.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3513" r="14530" b="4258"/>
          <a:stretch>
            <a:fillRect/>
          </a:stretch>
        </p:blipFill>
        <p:spPr bwMode="auto">
          <a:xfrm>
            <a:off x="-3" y="-32273"/>
            <a:ext cx="12192003" cy="6890273"/>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4" name="矩形 10"/>
          <p:cNvSpPr/>
          <p:nvPr userDrawn="1"/>
        </p:nvSpPr>
        <p:spPr>
          <a:xfrm>
            <a:off x="11308976" y="6703985"/>
            <a:ext cx="180000" cy="154017"/>
          </a:xfrm>
          <a:prstGeom prst="rect">
            <a:avLst/>
          </a:prstGeom>
          <a:solidFill>
            <a:srgbClr val="034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55752" y="369186"/>
            <a:ext cx="1167800" cy="519023"/>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68777" y="6167112"/>
            <a:ext cx="6875863" cy="372584"/>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cSld name="封面">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2" name="标题 1"/>
          <p:cNvSpPr>
            <a:spLocks noGrp="1"/>
          </p:cNvSpPr>
          <p:nvPr>
            <p:ph type="ctrTitle" hasCustomPrompt="1"/>
          </p:nvPr>
        </p:nvSpPr>
        <p:spPr>
          <a:xfrm>
            <a:off x="695325" y="1515902"/>
            <a:ext cx="7091057" cy="2387600"/>
          </a:xfrm>
          <a:prstGeom prst="rect">
            <a:avLst/>
          </a:prstGeom>
          <a:effectLst>
            <a:outerShdw blurRad="50800" dist="38100" dir="2700000" algn="tl" rotWithShape="0">
              <a:prstClr val="black">
                <a:alpha val="40000"/>
              </a:prstClr>
            </a:outerShdw>
          </a:effectLst>
        </p:spPr>
        <p:txBody>
          <a:bodyPr anchor="b">
            <a:normAutofit/>
          </a:bodyPr>
          <a:lstStyle>
            <a:lvl1pPr algn="l">
              <a:lnSpc>
                <a:spcPct val="150000"/>
              </a:lnSpc>
              <a:defRPr sz="4800" b="1"/>
            </a:lvl1pPr>
          </a:lstStyle>
          <a:p>
            <a:r>
              <a:rPr lang="zh-CN" altLang="en-US" dirty="0"/>
              <a:t>单击此处</a:t>
            </a:r>
            <a:br>
              <a:rPr lang="en-US" altLang="zh-CN" dirty="0"/>
            </a:br>
            <a:r>
              <a:rPr lang="zh-CN" altLang="en-US" dirty="0"/>
              <a:t>编辑母版标题样式</a:t>
            </a:r>
          </a:p>
        </p:txBody>
      </p:sp>
      <p:sp>
        <p:nvSpPr>
          <p:cNvPr id="3" name="副标题 2"/>
          <p:cNvSpPr>
            <a:spLocks noGrp="1"/>
          </p:cNvSpPr>
          <p:nvPr>
            <p:ph type="subTitle" idx="1"/>
          </p:nvPr>
        </p:nvSpPr>
        <p:spPr>
          <a:xfrm>
            <a:off x="695325" y="3995577"/>
            <a:ext cx="7091057" cy="1655762"/>
          </a:xfrm>
          <a:prstGeom prst="rect">
            <a:avLst/>
          </a:prstGeom>
          <a:effectLst>
            <a:outerShdw blurRad="50800" dist="38100" dir="2700000" algn="tl" rotWithShape="0">
              <a:prstClr val="black">
                <a:alpha val="40000"/>
              </a:prstClr>
            </a:outerShdw>
          </a:effectLst>
        </p:spPr>
        <p:txBody>
          <a:bodyPr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srcRect l="192"/>
          <a:stretch>
            <a:fillRect/>
          </a:stretch>
        </p:blipFill>
        <p:spPr>
          <a:xfrm>
            <a:off x="-2015" y="1"/>
            <a:ext cx="12194016" cy="6861017"/>
          </a:xfrm>
          <a:prstGeom prst="rect">
            <a:avLst/>
          </a:prstGeom>
        </p:spPr>
      </p:pic>
      <p:pic>
        <p:nvPicPr>
          <p:cNvPr id="6" name="图片 5" descr="图片2"/>
          <p:cNvPicPr>
            <a:picLocks noChangeAspect="1"/>
          </p:cNvPicPr>
          <p:nvPr userDrawn="1"/>
        </p:nvPicPr>
        <p:blipFill rotWithShape="1">
          <a:blip r:embed="rId3"/>
          <a:srcRect b="45649"/>
          <a:stretch>
            <a:fillRect/>
          </a:stretch>
        </p:blipFill>
        <p:spPr>
          <a:xfrm>
            <a:off x="-2014" y="1329721"/>
            <a:ext cx="12190133" cy="3852231"/>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34" y="87641"/>
            <a:ext cx="9009892" cy="647699"/>
          </a:xfrm>
        </p:spPr>
        <p:txBody>
          <a:bodyPr/>
          <a:lstStyle/>
          <a:p>
            <a:r>
              <a:rPr lang="zh-CN" altLang="en-US" dirty="0"/>
              <a:t>单击此处编辑母版标题样式</a:t>
            </a:r>
          </a:p>
        </p:txBody>
      </p:sp>
      <p:sp>
        <p:nvSpPr>
          <p:cNvPr id="3" name="内容占位符 2"/>
          <p:cNvSpPr>
            <a:spLocks noGrp="1"/>
          </p:cNvSpPr>
          <p:nvPr>
            <p:ph idx="1"/>
          </p:nvPr>
        </p:nvSpPr>
        <p:spPr>
          <a:xfrm>
            <a:off x="575997" y="1089213"/>
            <a:ext cx="11040324" cy="508775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2"/>
          </p:nvPr>
        </p:nvSpPr>
        <p:spPr>
          <a:xfrm>
            <a:off x="10801688" y="6480000"/>
            <a:ext cx="1139666" cy="365125"/>
          </a:xfrm>
        </p:spPr>
        <p:txBody>
          <a:bodyPr/>
          <a:lstStyle/>
          <a:p>
            <a:fld id="{4B1B0860-3CE7-4EC1-80B2-E4FAEF86BBEB}" type="slidenum">
              <a:rPr lang="zh-CN" altLang="en-US" smtClean="0"/>
              <a:t>‹#›</a:t>
            </a:fld>
            <a:endParaRPr lang="zh-CN" altLang="en-US"/>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10476382" y="6356350"/>
            <a:ext cx="1139636" cy="365125"/>
          </a:xfrm>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pic>
        <p:nvPicPr>
          <p:cNvPr id="4" name="图片 3" descr="图片2"/>
          <p:cNvPicPr>
            <a:picLocks noChangeAspect="1"/>
          </p:cNvPicPr>
          <p:nvPr userDrawn="1"/>
        </p:nvPicPr>
        <p:blipFill>
          <a:blip r:embed="rId2"/>
          <a:stretch>
            <a:fillRect/>
          </a:stretch>
        </p:blipFill>
        <p:spPr>
          <a:xfrm>
            <a:off x="2" y="2"/>
            <a:ext cx="12190133" cy="6858000"/>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325" y="87640"/>
            <a:ext cx="9009657" cy="647699"/>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575984" y="1089215"/>
            <a:ext cx="11040036" cy="5087751"/>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23850" y="87640"/>
            <a:ext cx="9000132" cy="647699"/>
          </a:xfrm>
          <a:prstGeom prst="rect">
            <a:avLst/>
          </a:prstGeom>
        </p:spPr>
        <p:txBody>
          <a:bodyPr/>
          <a:lstStyle/>
          <a:p>
            <a:r>
              <a:rPr lang="zh-CN" altLang="en-US" dirty="0"/>
              <a:t>单击此处编辑母版标题样式</a:t>
            </a:r>
          </a:p>
        </p:txBody>
      </p:sp>
      <p:sp>
        <p:nvSpPr>
          <p:cNvPr id="5" name="灯片编号占位符 4"/>
          <p:cNvSpPr>
            <a:spLocks noGrp="1"/>
          </p:cNvSpPr>
          <p:nvPr>
            <p:ph type="sldNum" sz="quarter" idx="12"/>
          </p:nvPr>
        </p:nvSpPr>
        <p:spPr/>
        <p:txBody>
          <a:bodyPr/>
          <a:lstStyle/>
          <a:p>
            <a:fld id="{4B1B0860-3CE7-4EC1-80B2-E4FAEF86BBE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8.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2.png"/><Relationship Id="rId5" Type="http://schemas.openxmlformats.org/officeDocument/2006/relationships/slideLayout" Target="../slideLayouts/slideLayout14.xml"/><Relationship Id="rId10" Type="http://schemas.openxmlformats.org/officeDocument/2006/relationships/image" Target="../media/image1.png"/><Relationship Id="rId4" Type="http://schemas.openxmlformats.org/officeDocument/2006/relationships/slideLayout" Target="../slideLayouts/slideLayout13.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8.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image" Target="../media/image2.png"/><Relationship Id="rId5" Type="http://schemas.openxmlformats.org/officeDocument/2006/relationships/slideLayout" Target="../slideLayouts/slideLayout22.xml"/><Relationship Id="rId10" Type="http://schemas.openxmlformats.org/officeDocument/2006/relationships/image" Target="../media/image1.png"/><Relationship Id="rId4" Type="http://schemas.openxmlformats.org/officeDocument/2006/relationships/slideLayout" Target="../slideLayouts/slideLayout21.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image" Target="../media/image3.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image" Target="../media/image2.png"/><Relationship Id="rId5" Type="http://schemas.openxmlformats.org/officeDocument/2006/relationships/slideLayout" Target="../slideLayouts/slideLayout30.xml"/><Relationship Id="rId10" Type="http://schemas.openxmlformats.org/officeDocument/2006/relationships/image" Target="../media/image1.png"/><Relationship Id="rId4" Type="http://schemas.openxmlformats.org/officeDocument/2006/relationships/slideLayout" Target="../slideLayouts/slideLayout29.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10.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image" Target="../media/image2.png"/><Relationship Id="rId5" Type="http://schemas.openxmlformats.org/officeDocument/2006/relationships/slideLayout" Target="../slideLayouts/slideLayout38.xml"/><Relationship Id="rId10" Type="http://schemas.openxmlformats.org/officeDocument/2006/relationships/image" Target="../media/image1.png"/><Relationship Id="rId4" Type="http://schemas.openxmlformats.org/officeDocument/2006/relationships/slideLayout" Target="../slideLayouts/slideLayout37.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5" Type="http://schemas.openxmlformats.org/officeDocument/2006/relationships/theme" Target="../theme/theme6.xml"/><Relationship Id="rId4" Type="http://schemas.openxmlformats.org/officeDocument/2006/relationships/slideLayout" Target="../slideLayouts/slideLayout45.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46.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4" Type="http://schemas.openxmlformats.org/officeDocument/2006/relationships/image" Target="../media/image13.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0" y="87640"/>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2" y="1089212"/>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2" y="6356350"/>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t>‹#›</a:t>
            </a:fld>
            <a:endParaRPr lang="zh-CN" altLang="en-US"/>
          </a:p>
        </p:txBody>
      </p:sp>
      <p:pic>
        <p:nvPicPr>
          <p:cNvPr id="11" name="Picture 2" descr="F:\Design\CSI Default\brand\中软国际LOGO_白.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403481" y="139848"/>
            <a:ext cx="1253590"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0785987" y="111319"/>
            <a:ext cx="1086090" cy="59867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1" y="87641"/>
            <a:ext cx="9000132" cy="647699"/>
          </a:xfrm>
          <a:prstGeom prst="rect">
            <a:avLst/>
          </a:prstGeom>
        </p:spPr>
        <p:txBody>
          <a:bodyPr vert="horz" lIns="68580" tIns="34290" rIns="68580" bIns="3429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3" y="1089214"/>
            <a:ext cx="11040036" cy="5087751"/>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3" y="6356351"/>
            <a:ext cx="1139636" cy="365125"/>
          </a:xfrm>
          <a:prstGeom prst="rect">
            <a:avLst/>
          </a:prstGeom>
        </p:spPr>
        <p:txBody>
          <a:bodyPr vert="horz" lIns="68580" tIns="34290" rIns="68580" bIns="3429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pPr defTabSz="914400"/>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pic>
        <p:nvPicPr>
          <p:cNvPr id="11" name="Picture 2" descr="F:\Design\CSI Default\brand\中软国际LOGO_白.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403482" y="139849"/>
            <a:ext cx="1253591"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785987" y="111319"/>
            <a:ext cx="1086091" cy="598675"/>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65"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65"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65"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1" y="87641"/>
            <a:ext cx="9000132" cy="647699"/>
          </a:xfrm>
          <a:prstGeom prst="rect">
            <a:avLst/>
          </a:prstGeom>
        </p:spPr>
        <p:txBody>
          <a:bodyPr vert="horz" lIns="68580" tIns="34290" rIns="68580" bIns="3429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3" y="1089214"/>
            <a:ext cx="11040036" cy="5087751"/>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3" y="6356351"/>
            <a:ext cx="1139636" cy="365125"/>
          </a:xfrm>
          <a:prstGeom prst="rect">
            <a:avLst/>
          </a:prstGeom>
        </p:spPr>
        <p:txBody>
          <a:bodyPr vert="horz" lIns="68580" tIns="34290" rIns="68580" bIns="3429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pPr defTabSz="914400"/>
            <a:fld id="{4B1B0860-3CE7-4EC1-80B2-E4FAEF86BBEB}" type="slidenum">
              <a:rPr lang="zh-CN" altLang="en-US" smtClean="0">
                <a:solidFill>
                  <a:prstClr val="black">
                    <a:tint val="75000"/>
                  </a:prstClr>
                </a:solidFill>
              </a:rPr>
              <a:t>‹#›</a:t>
            </a:fld>
            <a:endParaRPr lang="zh-CN" altLang="en-US">
              <a:solidFill>
                <a:prstClr val="black">
                  <a:tint val="75000"/>
                </a:prstClr>
              </a:solidFill>
            </a:endParaRPr>
          </a:p>
        </p:txBody>
      </p:sp>
      <p:pic>
        <p:nvPicPr>
          <p:cNvPr id="11" name="Picture 2" descr="F:\Design\CSI Default\brand\中软国际LOGO_白.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403482" y="139849"/>
            <a:ext cx="1253591"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785987" y="111319"/>
            <a:ext cx="1086091" cy="598675"/>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Lst>
  <p:hf sldNum="0"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65"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65"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65"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65" kern="1200">
          <a:solidFill>
            <a:schemeClr val="tx1"/>
          </a:solidFill>
          <a:latin typeface="+mn-lt"/>
          <a:ea typeface="+mn-ea"/>
          <a:cs typeface="+mn-cs"/>
        </a:defRPr>
      </a:lvl9pPr>
    </p:bodyStyle>
    <p:otherStyle>
      <a:defPPr>
        <a:defRPr lang="zh-CN"/>
      </a:defPPr>
      <a:lvl1pPr marL="0" algn="l" defTabSz="914400" rtl="0" eaLnBrk="1" latinLnBrk="0" hangingPunct="1">
        <a:defRPr sz="1865" kern="1200">
          <a:solidFill>
            <a:schemeClr val="tx1"/>
          </a:solidFill>
          <a:latin typeface="+mn-lt"/>
          <a:ea typeface="+mn-ea"/>
          <a:cs typeface="+mn-cs"/>
        </a:defRPr>
      </a:lvl1pPr>
      <a:lvl2pPr marL="457200" algn="l" defTabSz="914400" rtl="0" eaLnBrk="1" latinLnBrk="0" hangingPunct="1">
        <a:defRPr sz="1865" kern="1200">
          <a:solidFill>
            <a:schemeClr val="tx1"/>
          </a:solidFill>
          <a:latin typeface="+mn-lt"/>
          <a:ea typeface="+mn-ea"/>
          <a:cs typeface="+mn-cs"/>
        </a:defRPr>
      </a:lvl2pPr>
      <a:lvl3pPr marL="914400" algn="l" defTabSz="914400" rtl="0" eaLnBrk="1" latinLnBrk="0" hangingPunct="1">
        <a:defRPr sz="1865" kern="1200">
          <a:solidFill>
            <a:schemeClr val="tx1"/>
          </a:solidFill>
          <a:latin typeface="+mn-lt"/>
          <a:ea typeface="+mn-ea"/>
          <a:cs typeface="+mn-cs"/>
        </a:defRPr>
      </a:lvl3pPr>
      <a:lvl4pPr marL="1371600" algn="l" defTabSz="914400" rtl="0" eaLnBrk="1" latinLnBrk="0" hangingPunct="1">
        <a:defRPr sz="1865" kern="1200">
          <a:solidFill>
            <a:schemeClr val="tx1"/>
          </a:solidFill>
          <a:latin typeface="+mn-lt"/>
          <a:ea typeface="+mn-ea"/>
          <a:cs typeface="+mn-cs"/>
        </a:defRPr>
      </a:lvl4pPr>
      <a:lvl5pPr marL="1828800" algn="l" defTabSz="914400" rtl="0" eaLnBrk="1" latinLnBrk="0" hangingPunct="1">
        <a:defRPr sz="1865" kern="1200">
          <a:solidFill>
            <a:schemeClr val="tx1"/>
          </a:solidFill>
          <a:latin typeface="+mn-lt"/>
          <a:ea typeface="+mn-ea"/>
          <a:cs typeface="+mn-cs"/>
        </a:defRPr>
      </a:lvl5pPr>
      <a:lvl6pPr marL="2286000" algn="l" defTabSz="914400" rtl="0" eaLnBrk="1" latinLnBrk="0" hangingPunct="1">
        <a:defRPr sz="1865" kern="1200">
          <a:solidFill>
            <a:schemeClr val="tx1"/>
          </a:solidFill>
          <a:latin typeface="+mn-lt"/>
          <a:ea typeface="+mn-ea"/>
          <a:cs typeface="+mn-cs"/>
        </a:defRPr>
      </a:lvl6pPr>
      <a:lvl7pPr marL="2743200" algn="l" defTabSz="914400" rtl="0" eaLnBrk="1" latinLnBrk="0" hangingPunct="1">
        <a:defRPr sz="1865" kern="1200">
          <a:solidFill>
            <a:schemeClr val="tx1"/>
          </a:solidFill>
          <a:latin typeface="+mn-lt"/>
          <a:ea typeface="+mn-ea"/>
          <a:cs typeface="+mn-cs"/>
        </a:defRPr>
      </a:lvl7pPr>
      <a:lvl8pPr marL="3200400" algn="l" defTabSz="914400" rtl="0" eaLnBrk="1" latinLnBrk="0" hangingPunct="1">
        <a:defRPr sz="1865" kern="1200">
          <a:solidFill>
            <a:schemeClr val="tx1"/>
          </a:solidFill>
          <a:latin typeface="+mn-lt"/>
          <a:ea typeface="+mn-ea"/>
          <a:cs typeface="+mn-cs"/>
        </a:defRPr>
      </a:lvl8pPr>
      <a:lvl9pPr marL="3657600" algn="l" defTabSz="914400" rtl="0" eaLnBrk="1" latinLnBrk="0" hangingPunct="1">
        <a:defRPr sz="186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0" y="87640"/>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2" y="1089212"/>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2" y="6356350"/>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t>‹#›</a:t>
            </a:fld>
            <a:endParaRPr lang="zh-CN" altLang="en-US"/>
          </a:p>
        </p:txBody>
      </p:sp>
      <p:pic>
        <p:nvPicPr>
          <p:cNvPr id="11" name="Picture 2" descr="F:\Design\CSI Default\brand\中软国际LOGO_白.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403481" y="139848"/>
            <a:ext cx="1253590"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785987" y="111319"/>
            <a:ext cx="1086090" cy="598674"/>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0" y="-10758"/>
            <a:ext cx="12192000" cy="825499"/>
          </a:xfrm>
          <a:prstGeom prst="rect">
            <a:avLst/>
          </a:prstGeom>
        </p:spPr>
      </p:pic>
      <p:sp>
        <p:nvSpPr>
          <p:cNvPr id="2" name="标题占位符 1"/>
          <p:cNvSpPr>
            <a:spLocks noGrp="1"/>
          </p:cNvSpPr>
          <p:nvPr>
            <p:ph type="title"/>
          </p:nvPr>
        </p:nvSpPr>
        <p:spPr>
          <a:xfrm>
            <a:off x="323851" y="87641"/>
            <a:ext cx="9000132" cy="64769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575983" y="1089214"/>
            <a:ext cx="11040036" cy="5087751"/>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p:cNvSpPr>
            <a:spLocks noGrp="1"/>
          </p:cNvSpPr>
          <p:nvPr>
            <p:ph type="sldNum" sz="quarter" idx="4"/>
          </p:nvPr>
        </p:nvSpPr>
        <p:spPr>
          <a:xfrm>
            <a:off x="10476383" y="6356351"/>
            <a:ext cx="1139636"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defRPr>
            </a:lvl1pPr>
          </a:lstStyle>
          <a:p>
            <a:fld id="{4B1B0860-3CE7-4EC1-80B2-E4FAEF86BBEB}" type="slidenum">
              <a:rPr lang="zh-CN" altLang="en-US" smtClean="0"/>
              <a:t>‹#›</a:t>
            </a:fld>
            <a:endParaRPr lang="zh-CN" altLang="en-US"/>
          </a:p>
        </p:txBody>
      </p:sp>
      <p:pic>
        <p:nvPicPr>
          <p:cNvPr id="11" name="Picture 2" descr="F:\Design\CSI Default\brand\中软国际LOGO_白.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9403482" y="139849"/>
            <a:ext cx="1253591" cy="55594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785987" y="111319"/>
            <a:ext cx="1086091" cy="598675"/>
          </a:xfrm>
          <a:prstGeom prst="rect">
            <a:avLst/>
          </a:prstGeom>
        </p:spPr>
      </p:pic>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Lst>
  <p:hf hdr="0" ftr="0" dt="0"/>
  <p:txStyles>
    <p:titleStyle>
      <a:lvl1pPr algn="l" defTabSz="914400" rtl="0" eaLnBrk="1" latinLnBrk="0" hangingPunct="1">
        <a:lnSpc>
          <a:spcPct val="100000"/>
        </a:lnSpc>
        <a:spcBef>
          <a:spcPct val="0"/>
        </a:spcBef>
        <a:buNone/>
        <a:defRPr sz="2800" b="1" kern="1200">
          <a:solidFill>
            <a:schemeClr val="bg1"/>
          </a:solidFill>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00"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600"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400"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sp>
        <p:nvSpPr>
          <p:cNvPr id="7" name="文本框 6"/>
          <p:cNvSpPr txBox="1"/>
          <p:nvPr userDrawn="1"/>
        </p:nvSpPr>
        <p:spPr>
          <a:xfrm>
            <a:off x="4318001" y="2971803"/>
            <a:ext cx="3556001" cy="230283"/>
          </a:xfrm>
          <a:prstGeom prst="rect">
            <a:avLst/>
          </a:prstGeom>
          <a:noFill/>
        </p:spPr>
        <p:txBody>
          <a:bodyPr wrap="square" lIns="91419" tIns="45710" rIns="91419" bIns="45710" rtlCol="0">
            <a:spAutoFit/>
          </a:bodyPr>
          <a:lstStyle/>
          <a:p>
            <a:r>
              <a:rPr lang="zh-CN" altLang="en-US" sz="210" dirty="0">
                <a:solidFill>
                  <a:schemeClr val="bg1"/>
                </a:solidFill>
                <a:latin typeface="微软雅黑" panose="020B0503020204020204" charset="-122"/>
                <a:ea typeface="微软雅黑" panose="020B0503020204020204" charset="-122"/>
                <a:sym typeface="+mn-ea"/>
              </a:rPr>
              <a:t>感谢您下载包图网平台上提供的</a:t>
            </a:r>
            <a:r>
              <a:rPr lang="en-US" altLang="zh-CN" sz="210" dirty="0">
                <a:solidFill>
                  <a:schemeClr val="bg1"/>
                </a:solidFill>
                <a:latin typeface="微软雅黑" panose="020B0503020204020204" charset="-122"/>
                <a:ea typeface="微软雅黑" panose="020B0503020204020204" charset="-122"/>
                <a:sym typeface="+mn-ea"/>
              </a:rPr>
              <a:t>PPT</a:t>
            </a:r>
            <a:r>
              <a:rPr lang="zh-CN" altLang="en-US" sz="210" dirty="0">
                <a:solidFill>
                  <a:schemeClr val="bg1"/>
                </a:solidFill>
                <a:latin typeface="微软雅黑" panose="020B0503020204020204" charset="-122"/>
                <a:ea typeface="微软雅黑" panose="020B0503020204020204" charset="-122"/>
                <a:sym typeface="+mn-ea"/>
              </a:rPr>
              <a:t>作品，为了您和包图网以及原创作者的利益，请勿复制、传播、销售，否则将承担法律责任！包图网将对作品进行维权，按照传播下载次数进行十倍的索取赔偿！</a:t>
            </a:r>
          </a:p>
          <a:p>
            <a:r>
              <a:rPr lang="en-US" altLang="zh-CN" sz="635" dirty="0">
                <a:solidFill>
                  <a:schemeClr val="bg1"/>
                </a:solidFill>
                <a:latin typeface="微软雅黑" panose="020B0503020204020204" charset="-122"/>
                <a:ea typeface="微软雅黑" panose="020B0503020204020204" charset="-122"/>
                <a:sym typeface="+mn-ea"/>
              </a:rPr>
              <a:t>ibaotu.com</a:t>
            </a:r>
          </a:p>
        </p:txBody>
      </p:sp>
    </p:spTree>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45"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7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33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3pPr>
      <a:lvl4pPr marL="1599565"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4pPr>
      <a:lvl5pPr marL="2056765"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14400" rtl="0" eaLnBrk="1" latinLnBrk="0" hangingPunct="1">
        <a:defRPr sz="1905" kern="1200">
          <a:solidFill>
            <a:schemeClr val="tx1"/>
          </a:solidFill>
          <a:latin typeface="+mn-lt"/>
          <a:ea typeface="+mn-ea"/>
          <a:cs typeface="+mn-cs"/>
        </a:defRPr>
      </a:lvl1pPr>
      <a:lvl2pPr marL="457200" algn="l" defTabSz="914400" rtl="0" eaLnBrk="1" latinLnBrk="0" hangingPunct="1">
        <a:defRPr sz="1905" kern="1200">
          <a:solidFill>
            <a:schemeClr val="tx1"/>
          </a:solidFill>
          <a:latin typeface="+mn-lt"/>
          <a:ea typeface="+mn-ea"/>
          <a:cs typeface="+mn-cs"/>
        </a:defRPr>
      </a:lvl2pPr>
      <a:lvl3pPr marL="914400" algn="l" defTabSz="914400" rtl="0" eaLnBrk="1" latinLnBrk="0" hangingPunct="1">
        <a:defRPr sz="1905" kern="1200">
          <a:solidFill>
            <a:schemeClr val="tx1"/>
          </a:solidFill>
          <a:latin typeface="+mn-lt"/>
          <a:ea typeface="+mn-ea"/>
          <a:cs typeface="+mn-cs"/>
        </a:defRPr>
      </a:lvl3pPr>
      <a:lvl4pPr marL="1370965" algn="l" defTabSz="914400" rtl="0" eaLnBrk="1" latinLnBrk="0" hangingPunct="1">
        <a:defRPr sz="1905" kern="1200">
          <a:solidFill>
            <a:schemeClr val="tx1"/>
          </a:solidFill>
          <a:latin typeface="+mn-lt"/>
          <a:ea typeface="+mn-ea"/>
          <a:cs typeface="+mn-cs"/>
        </a:defRPr>
      </a:lvl4pPr>
      <a:lvl5pPr marL="1828165" algn="l" defTabSz="914400" rtl="0" eaLnBrk="1" latinLnBrk="0" hangingPunct="1">
        <a:defRPr sz="1905" kern="1200">
          <a:solidFill>
            <a:schemeClr val="tx1"/>
          </a:solidFill>
          <a:latin typeface="+mn-lt"/>
          <a:ea typeface="+mn-ea"/>
          <a:cs typeface="+mn-cs"/>
        </a:defRPr>
      </a:lvl5pPr>
      <a:lvl6pPr marL="2285365" algn="l" defTabSz="914400" rtl="0" eaLnBrk="1" latinLnBrk="0" hangingPunct="1">
        <a:defRPr sz="1905" kern="1200">
          <a:solidFill>
            <a:schemeClr val="tx1"/>
          </a:solidFill>
          <a:latin typeface="+mn-lt"/>
          <a:ea typeface="+mn-ea"/>
          <a:cs typeface="+mn-cs"/>
        </a:defRPr>
      </a:lvl6pPr>
      <a:lvl7pPr marL="2742565" algn="l" defTabSz="914400" rtl="0" eaLnBrk="1" latinLnBrk="0" hangingPunct="1">
        <a:defRPr sz="1905" kern="1200">
          <a:solidFill>
            <a:schemeClr val="tx1"/>
          </a:solidFill>
          <a:latin typeface="+mn-lt"/>
          <a:ea typeface="+mn-ea"/>
          <a:cs typeface="+mn-cs"/>
        </a:defRPr>
      </a:lvl7pPr>
      <a:lvl8pPr marL="3199765" algn="l" defTabSz="914400" rtl="0" eaLnBrk="1" latinLnBrk="0" hangingPunct="1">
        <a:defRPr sz="1905" kern="1200">
          <a:solidFill>
            <a:schemeClr val="tx1"/>
          </a:solidFill>
          <a:latin typeface="+mn-lt"/>
          <a:ea typeface="+mn-ea"/>
          <a:cs typeface="+mn-cs"/>
        </a:defRPr>
      </a:lvl8pPr>
      <a:lvl9pPr marL="3656330" algn="l" defTabSz="914400" rtl="0" eaLnBrk="1" latinLnBrk="0" hangingPunct="1">
        <a:defRPr sz="1905"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14000">
              <a:srgbClr val="DEDEDF">
                <a:alpha val="0"/>
              </a:srgbClr>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effectLst/>
      </p:bgPr>
    </p:bg>
    <p:spTree>
      <p:nvGrpSpPr>
        <p:cNvPr id="1" name=""/>
        <p:cNvGrpSpPr/>
        <p:nvPr/>
      </p:nvGrpSpPr>
      <p:grpSpPr>
        <a:xfrm>
          <a:off x="0" y="0"/>
          <a:ext cx="0" cy="0"/>
          <a:chOff x="0" y="0"/>
          <a:chExt cx="0" cy="0"/>
        </a:xfrm>
      </p:grpSpPr>
      <p:pic>
        <p:nvPicPr>
          <p:cNvPr id="10" name="图片 9" descr="红色正文副本.jpg"/>
          <p:cNvPicPr>
            <a:picLocks noChangeAspect="1"/>
          </p:cNvPicPr>
          <p:nvPr userDrawn="1"/>
        </p:nvPicPr>
        <p:blipFill>
          <a:blip r:embed="rId4" cstate="print"/>
          <a:stretch>
            <a:fillRect/>
          </a:stretch>
        </p:blipFill>
        <p:spPr>
          <a:xfrm>
            <a:off x="0" y="-218256"/>
            <a:ext cx="12192000" cy="6857107"/>
          </a:xfrm>
          <a:prstGeom prst="rect">
            <a:avLst/>
          </a:prstGeom>
        </p:spPr>
      </p:pic>
      <p:sp>
        <p:nvSpPr>
          <p:cNvPr id="6" name="灯片编号占位符 5"/>
          <p:cNvSpPr>
            <a:spLocks noGrp="1"/>
          </p:cNvSpPr>
          <p:nvPr>
            <p:ph type="sldNum" sz="quarter" idx="4"/>
          </p:nvPr>
        </p:nvSpPr>
        <p:spPr>
          <a:xfrm>
            <a:off x="10476381" y="6356353"/>
            <a:ext cx="1139637" cy="365125"/>
          </a:xfrm>
          <a:prstGeom prst="rect">
            <a:avLst/>
          </a:prstGeom>
        </p:spPr>
        <p:txBody>
          <a:bodyPr vert="horz" lIns="86411" tIns="43205" rIns="86411" bIns="43205" rtlCol="0" anchor="ctr"/>
          <a:lstStyle>
            <a:lvl1pPr algn="r">
              <a:defRPr sz="1165">
                <a:solidFill>
                  <a:schemeClr val="tx1">
                    <a:tint val="75000"/>
                  </a:schemeClr>
                </a:solidFill>
                <a:latin typeface="微软雅黑" panose="020B0503020204020204" charset="-122"/>
                <a:ea typeface="微软雅黑" panose="020B0503020204020204" charset="-122"/>
              </a:defRPr>
            </a:lvl1pPr>
          </a:lstStyle>
          <a:p>
            <a:pPr defTabSz="967740" fontAlgn="base">
              <a:spcBef>
                <a:spcPct val="0"/>
              </a:spcBef>
              <a:spcAft>
                <a:spcPct val="0"/>
              </a:spcAft>
            </a:pPr>
            <a:fld id="{4B1B0860-3CE7-4EC1-80B2-E4FAEF86BBEB}" type="slidenum">
              <a:rPr lang="zh-CN" altLang="en-US" smtClean="0">
                <a:solidFill>
                  <a:srgbClr val="000000">
                    <a:tint val="75000"/>
                  </a:srgbClr>
                </a:solidFill>
                <a:cs typeface="Arial" panose="020B0604020202020204" pitchFamily="34" charset="0"/>
              </a:rPr>
              <a:t>‹#›</a:t>
            </a:fld>
            <a:endParaRPr lang="zh-CN" altLang="en-US">
              <a:solidFill>
                <a:srgbClr val="000000">
                  <a:tint val="75000"/>
                </a:srgbClr>
              </a:solidFill>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Lst>
  <p:txStyles>
    <p:titleStyle>
      <a:lvl1pPr algn="l" defTabSz="914400" rtl="0" eaLnBrk="1" latinLnBrk="0" hangingPunct="1">
        <a:lnSpc>
          <a:spcPct val="100000"/>
        </a:lnSpc>
        <a:spcBef>
          <a:spcPct val="0"/>
        </a:spcBef>
        <a:buNone/>
        <a:defRPr sz="2750" b="0" kern="120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435" b="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1800" b="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1585" b="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375" b="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375" b="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43.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8.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8.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8.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68910" y="1894205"/>
            <a:ext cx="11697335" cy="1628775"/>
          </a:xfrm>
        </p:spPr>
        <p:txBody>
          <a:bodyPr anchor="ctr" anchorCtr="0">
            <a:noAutofit/>
          </a:bodyPr>
          <a:lstStyle>
            <a:lvl1pPr algn="l">
              <a:lnSpc>
                <a:spcPct val="150000"/>
              </a:lnSpc>
              <a:defRPr sz="4800" b="1"/>
            </a:lvl1pPr>
          </a:lstStyle>
          <a:p>
            <a:pPr algn="ctr"/>
            <a:br>
              <a:rPr lang="zh-CN" altLang="en-US" dirty="0">
                <a:latin typeface="+mj-ea"/>
                <a:ea typeface="+mj-ea"/>
              </a:rPr>
            </a:br>
            <a:r>
              <a:rPr lang="zh-CN" altLang="en-US" dirty="0">
                <a:latin typeface="+mj-ea"/>
                <a:ea typeface="+mj-ea"/>
                <a:sym typeface="+mn-ea"/>
              </a:rPr>
              <a:t>西北工业大学</a:t>
            </a:r>
            <a:r>
              <a:rPr lang="en-US" altLang="zh-CN" dirty="0">
                <a:latin typeface="+mj-ea"/>
                <a:ea typeface="+mj-ea"/>
                <a:sym typeface="+mn-ea"/>
              </a:rPr>
              <a:t>-</a:t>
            </a:r>
            <a:r>
              <a:rPr lang="zh-CN" altLang="en-US" dirty="0">
                <a:latin typeface="+mj-ea"/>
                <a:ea typeface="+mj-ea"/>
                <a:sym typeface="+mn-ea"/>
              </a:rPr>
              <a:t>软件基础能力训练</a:t>
            </a:r>
            <a:br>
              <a:rPr lang="zh-CN" altLang="en-US" dirty="0">
                <a:latin typeface="+mj-ea"/>
                <a:ea typeface="+mj-ea"/>
                <a:sym typeface="+mn-ea"/>
              </a:rPr>
            </a:br>
            <a:r>
              <a:rPr lang="zh-CN" altLang="en-US" dirty="0">
                <a:latin typeface="+mj-ea"/>
                <a:ea typeface="+mj-ea"/>
                <a:sym typeface="+mn-ea"/>
              </a:rPr>
              <a:t>项目评审</a:t>
            </a:r>
            <a:br>
              <a:rPr lang="en-US" altLang="zh-CN" dirty="0">
                <a:sym typeface="+mn-ea"/>
              </a:rPr>
            </a:br>
            <a:br>
              <a:rPr lang="zh-CN" altLang="en-US" dirty="0">
                <a:sym typeface="+mn-ea"/>
              </a:rPr>
            </a:br>
            <a:br>
              <a:rPr lang="zh-CN" altLang="en-US" sz="4000" dirty="0"/>
            </a:br>
            <a:endParaRPr lang="zh-CN" altLang="en-US" sz="2400" dirty="0"/>
          </a:p>
        </p:txBody>
      </p:sp>
      <p:sp>
        <p:nvSpPr>
          <p:cNvPr id="2" name="圆角矩形 1"/>
          <p:cNvSpPr/>
          <p:nvPr/>
        </p:nvSpPr>
        <p:spPr>
          <a:xfrm>
            <a:off x="2332990" y="3738245"/>
            <a:ext cx="7171055" cy="614680"/>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kern="1500" spc="180" dirty="0">
                <a:solidFill>
                  <a:srgbClr val="FF0000"/>
                </a:solidFill>
                <a:uFillTx/>
                <a:sym typeface="+mn-ea"/>
              </a:rPr>
              <a:t>项目名称：双雄激战！</a:t>
            </a:r>
            <a:endParaRPr lang="zh-CN" altLang="en-US" sz="2400" b="1" spc="180" dirty="0">
              <a:solidFill>
                <a:srgbClr val="FF0000"/>
              </a:solidFill>
              <a:uFillTx/>
              <a:sym typeface="+mn-ea"/>
            </a:endParaRPr>
          </a:p>
        </p:txBody>
      </p:sp>
      <p:sp>
        <p:nvSpPr>
          <p:cNvPr id="3" name="文本框 2"/>
          <p:cNvSpPr txBox="1"/>
          <p:nvPr/>
        </p:nvSpPr>
        <p:spPr>
          <a:xfrm>
            <a:off x="2155190" y="5212715"/>
            <a:ext cx="2548890" cy="398780"/>
          </a:xfrm>
          <a:prstGeom prst="rect">
            <a:avLst/>
          </a:prstGeom>
          <a:noFill/>
        </p:spPr>
        <p:txBody>
          <a:bodyPr wrap="square" rtlCol="0">
            <a:spAutoFit/>
          </a:bodyPr>
          <a:lstStyle/>
          <a:p>
            <a:r>
              <a:rPr lang="zh-CN" altLang="en-US" sz="2000" b="1" dirty="0">
                <a:solidFill>
                  <a:schemeClr val="bg1"/>
                </a:solidFill>
              </a:rPr>
              <a:t>汇报人：尹曦</a:t>
            </a:r>
          </a:p>
        </p:txBody>
      </p:sp>
      <p:sp>
        <p:nvSpPr>
          <p:cNvPr id="5" name="文本框 4"/>
          <p:cNvSpPr txBox="1"/>
          <p:nvPr/>
        </p:nvSpPr>
        <p:spPr>
          <a:xfrm>
            <a:off x="5676265" y="5212715"/>
            <a:ext cx="3940175" cy="398780"/>
          </a:xfrm>
          <a:prstGeom prst="rect">
            <a:avLst/>
          </a:prstGeom>
          <a:noFill/>
        </p:spPr>
        <p:txBody>
          <a:bodyPr wrap="square" rtlCol="0">
            <a:spAutoFit/>
          </a:bodyPr>
          <a:lstStyle/>
          <a:p>
            <a:r>
              <a:rPr lang="zh-CN" altLang="en-US" sz="2000" b="1" dirty="0">
                <a:solidFill>
                  <a:schemeClr val="bg1"/>
                </a:solidFill>
              </a:rPr>
              <a:t>汇报日期：</a:t>
            </a:r>
            <a:r>
              <a:rPr lang="en-US" altLang="zh-CN" sz="2000" b="1" dirty="0">
                <a:solidFill>
                  <a:schemeClr val="bg1"/>
                </a:solidFill>
              </a:rPr>
              <a:t>2024</a:t>
            </a:r>
            <a:r>
              <a:rPr lang="zh-CN" altLang="en-US" sz="2000" b="1" dirty="0">
                <a:solidFill>
                  <a:schemeClr val="bg1"/>
                </a:solidFill>
              </a:rPr>
              <a:t>年</a:t>
            </a:r>
            <a:r>
              <a:rPr lang="en-US" altLang="zh-CN" sz="2000" b="1" dirty="0">
                <a:solidFill>
                  <a:schemeClr val="bg1"/>
                </a:solidFill>
              </a:rPr>
              <a:t>12</a:t>
            </a:r>
            <a:r>
              <a:rPr lang="zh-CN" altLang="en-US" sz="2000" b="1" dirty="0">
                <a:solidFill>
                  <a:schemeClr val="bg1"/>
                </a:solidFill>
              </a:rPr>
              <a:t>月</a:t>
            </a:r>
            <a:r>
              <a:rPr lang="en-US" altLang="zh-CN" sz="2000" b="1" dirty="0">
                <a:solidFill>
                  <a:schemeClr val="bg1"/>
                </a:solidFill>
              </a:rPr>
              <a:t>28</a:t>
            </a:r>
            <a:r>
              <a:rPr lang="zh-CN" altLang="en-US" sz="2000" b="1" dirty="0">
                <a:solidFill>
                  <a:schemeClr val="bg1"/>
                </a:solidFill>
              </a:rPr>
              <a:t>日</a:t>
            </a:r>
          </a:p>
        </p:txBody>
      </p:sp>
      <p:pic>
        <p:nvPicPr>
          <p:cNvPr id="7" name="图片 6"/>
          <p:cNvPicPr>
            <a:picLocks noChangeAspect="1"/>
          </p:cNvPicPr>
          <p:nvPr/>
        </p:nvPicPr>
        <p:blipFill>
          <a:blip r:embed="rId2"/>
          <a:stretch>
            <a:fillRect/>
          </a:stretch>
        </p:blipFill>
        <p:spPr>
          <a:xfrm>
            <a:off x="11094920" y="29"/>
            <a:ext cx="1097506" cy="562358"/>
          </a:xfrm>
          <a:prstGeom prst="rect">
            <a:avLst/>
          </a:prstGeom>
        </p:spPr>
      </p:pic>
      <p:pic>
        <p:nvPicPr>
          <p:cNvPr id="6" name="图片 5" descr="C:/Users/Johnny/AppData/Local/Temp/picturecompress_20220304162856/output_1.pngoutput_1"/>
          <p:cNvPicPr>
            <a:picLocks noChangeAspect="1"/>
          </p:cNvPicPr>
          <p:nvPr/>
        </p:nvPicPr>
        <p:blipFill>
          <a:blip r:embed="rId3"/>
          <a:stretch>
            <a:fillRect/>
          </a:stretch>
        </p:blipFill>
        <p:spPr>
          <a:xfrm>
            <a:off x="252095" y="186055"/>
            <a:ext cx="3105179" cy="590550"/>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10211" y="2609054"/>
            <a:ext cx="1896731" cy="1100455"/>
          </a:xfrm>
          <a:prstGeom prst="rect">
            <a:avLst/>
          </a:prstGeom>
        </p:spPr>
        <p:txBody>
          <a:bodyPr wrap="square" lIns="69100" tIns="34550" rIns="69100" bIns="34550">
            <a:spAutoFit/>
          </a:bodyPr>
          <a:lstStyle/>
          <a:p>
            <a:pPr algn="dist" defTabSz="690880">
              <a:defRPr/>
            </a:pPr>
            <a:r>
              <a:rPr lang="zh-CN" altLang="en-US" sz="4800" b="1" dirty="0">
                <a:solidFill>
                  <a:srgbClr val="FFFFFF"/>
                </a:solidFill>
                <a:latin typeface="微软雅黑" panose="020B0503020204020204" charset="-122"/>
                <a:ea typeface="微软雅黑" panose="020B0503020204020204" charset="-122"/>
              </a:rPr>
              <a:t>目录</a:t>
            </a:r>
            <a:endParaRPr lang="en-US" altLang="zh-CN" sz="3385" b="1" dirty="0">
              <a:solidFill>
                <a:srgbClr val="FFFFFF"/>
              </a:solidFill>
              <a:latin typeface="微软雅黑" panose="020B0503020204020204" charset="-122"/>
              <a:ea typeface="微软雅黑" panose="020B0503020204020204" charset="-122"/>
            </a:endParaRPr>
          </a:p>
          <a:p>
            <a:pPr algn="dist" defTabSz="690880">
              <a:defRPr/>
            </a:pPr>
            <a:r>
              <a:rPr lang="en-US" altLang="zh-CN" sz="1905" b="1" dirty="0">
                <a:solidFill>
                  <a:srgbClr val="FFFFFF"/>
                </a:solidFill>
                <a:latin typeface="微软雅黑" panose="020B0503020204020204" charset="-122"/>
                <a:ea typeface="微软雅黑" panose="020B0503020204020204" charset="-122"/>
              </a:rPr>
              <a:t>Contents</a:t>
            </a:r>
            <a:endParaRPr lang="zh-CN" altLang="en-US" sz="1905" b="1" dirty="0">
              <a:solidFill>
                <a:srgbClr val="FFFFFF"/>
              </a:solidFill>
              <a:latin typeface="微软雅黑" panose="020B0503020204020204" charset="-122"/>
              <a:ea typeface="微软雅黑" panose="020B0503020204020204" charset="-122"/>
            </a:endParaRPr>
          </a:p>
        </p:txBody>
      </p:sp>
      <p:grpSp>
        <p:nvGrpSpPr>
          <p:cNvPr id="7" name="组合 6"/>
          <p:cNvGrpSpPr/>
          <p:nvPr>
            <p:custDataLst>
              <p:tags r:id="rId1"/>
            </p:custDataLst>
          </p:nvPr>
        </p:nvGrpSpPr>
        <p:grpSpPr>
          <a:xfrm>
            <a:off x="5203190" y="2148205"/>
            <a:ext cx="2227580" cy="629285"/>
            <a:chOff x="8194" y="3383"/>
            <a:chExt cx="3508" cy="991"/>
          </a:xfrm>
          <a:solidFill>
            <a:srgbClr val="FFC000"/>
          </a:solidFill>
        </p:grpSpPr>
        <p:sp>
          <p:nvSpPr>
            <p:cNvPr id="4" name="圆角矩形 3"/>
            <p:cNvSpPr/>
            <p:nvPr>
              <p:custDataLst>
                <p:tags r:id="rId22"/>
              </p:custDataLst>
            </p:nvPr>
          </p:nvSpPr>
          <p:spPr>
            <a:xfrm>
              <a:off x="8194" y="3383"/>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rgbClr val="C00000"/>
                  </a:solidFill>
                </a:rPr>
                <a:t>01</a:t>
              </a:r>
            </a:p>
          </p:txBody>
        </p:sp>
        <p:sp>
          <p:nvSpPr>
            <p:cNvPr id="5" name="文本框 4"/>
            <p:cNvSpPr txBox="1"/>
            <p:nvPr>
              <p:custDataLst>
                <p:tags r:id="rId23"/>
              </p:custDataLst>
            </p:nvPr>
          </p:nvSpPr>
          <p:spPr>
            <a:xfrm>
              <a:off x="9357" y="3480"/>
              <a:ext cx="2345" cy="727"/>
            </a:xfrm>
            <a:prstGeom prst="rect">
              <a:avLst/>
            </a:prstGeom>
            <a:noFill/>
          </p:spPr>
          <p:txBody>
            <a:bodyPr wrap="square" rtlCol="0">
              <a:spAutoFit/>
            </a:bodyPr>
            <a:lstStyle/>
            <a:p>
              <a:r>
                <a:rPr lang="zh-CN" altLang="en-US" sz="2400" b="1" dirty="0">
                  <a:solidFill>
                    <a:schemeClr val="bg1"/>
                  </a:solidFill>
                </a:rPr>
                <a:t>项目背景</a:t>
              </a:r>
              <a:endParaRPr lang="en-US" altLang="zh-CN" sz="2400" b="1" dirty="0">
                <a:solidFill>
                  <a:schemeClr val="bg1"/>
                </a:solidFill>
              </a:endParaRPr>
            </a:p>
          </p:txBody>
        </p:sp>
        <p:cxnSp>
          <p:nvCxnSpPr>
            <p:cNvPr id="6" name="直接连接符 5"/>
            <p:cNvCxnSpPr/>
            <p:nvPr>
              <p:custDataLst>
                <p:tags r:id="rId24"/>
              </p:custDataLst>
            </p:nvPr>
          </p:nvCxnSpPr>
          <p:spPr>
            <a:xfrm>
              <a:off x="9645" y="4294"/>
              <a:ext cx="1717" cy="0"/>
            </a:xfrm>
            <a:prstGeom prst="line">
              <a:avLst/>
            </a:prstGeom>
            <a:grpFill/>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custDataLst>
              <p:tags r:id="rId2"/>
            </p:custDataLst>
          </p:nvPr>
        </p:nvGrpSpPr>
        <p:grpSpPr>
          <a:xfrm>
            <a:off x="8800465" y="2148205"/>
            <a:ext cx="2227580" cy="629285"/>
            <a:chOff x="8194" y="3383"/>
            <a:chExt cx="3508" cy="991"/>
          </a:xfrm>
        </p:grpSpPr>
        <p:sp>
          <p:nvSpPr>
            <p:cNvPr id="9" name="圆角矩形 8"/>
            <p:cNvSpPr/>
            <p:nvPr>
              <p:custDataLst>
                <p:tags r:id="rId19"/>
              </p:custDataLst>
            </p:nvPr>
          </p:nvSpPr>
          <p:spPr>
            <a:xfrm>
              <a:off x="8194" y="3383"/>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rgbClr val="C00000"/>
                  </a:solidFill>
                </a:rPr>
                <a:t>02</a:t>
              </a:r>
            </a:p>
          </p:txBody>
        </p:sp>
        <p:sp>
          <p:nvSpPr>
            <p:cNvPr id="10" name="文本框 9"/>
            <p:cNvSpPr txBox="1"/>
            <p:nvPr>
              <p:custDataLst>
                <p:tags r:id="rId20"/>
              </p:custDataLst>
            </p:nvPr>
          </p:nvSpPr>
          <p:spPr>
            <a:xfrm>
              <a:off x="9357" y="3480"/>
              <a:ext cx="2345" cy="727"/>
            </a:xfrm>
            <a:prstGeom prst="rect">
              <a:avLst/>
            </a:prstGeom>
            <a:noFill/>
          </p:spPr>
          <p:txBody>
            <a:bodyPr wrap="square" rtlCol="0">
              <a:spAutoFit/>
            </a:bodyPr>
            <a:lstStyle/>
            <a:p>
              <a:r>
                <a:rPr lang="zh-CN" altLang="en-US" sz="2400" b="1" dirty="0">
                  <a:solidFill>
                    <a:schemeClr val="bg1"/>
                  </a:solidFill>
                </a:rPr>
                <a:t>项目简介</a:t>
              </a:r>
              <a:endParaRPr lang="en-US" altLang="zh-CN" sz="2400" b="1" dirty="0">
                <a:solidFill>
                  <a:schemeClr val="bg1"/>
                </a:solidFill>
              </a:endParaRPr>
            </a:p>
          </p:txBody>
        </p:sp>
        <p:cxnSp>
          <p:nvCxnSpPr>
            <p:cNvPr id="11" name="直接连接符 10"/>
            <p:cNvCxnSpPr/>
            <p:nvPr>
              <p:custDataLst>
                <p:tags r:id="rId21"/>
              </p:custDataLst>
            </p:nvPr>
          </p:nvCxnSpPr>
          <p:spPr>
            <a:xfrm>
              <a:off x="9645" y="4294"/>
              <a:ext cx="1717" cy="0"/>
            </a:xfrm>
            <a:prstGeom prst="line">
              <a:avLst/>
            </a:prstGeom>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custDataLst>
              <p:tags r:id="rId3"/>
            </p:custDataLst>
          </p:nvPr>
        </p:nvGrpSpPr>
        <p:grpSpPr>
          <a:xfrm>
            <a:off x="5204460" y="3159125"/>
            <a:ext cx="2209800" cy="741680"/>
            <a:chOff x="8196" y="3126"/>
            <a:chExt cx="3480" cy="1168"/>
          </a:xfrm>
        </p:grpSpPr>
        <p:sp>
          <p:nvSpPr>
            <p:cNvPr id="13" name="圆角矩形 12"/>
            <p:cNvSpPr/>
            <p:nvPr>
              <p:custDataLst>
                <p:tags r:id="rId16"/>
              </p:custDataLst>
            </p:nvPr>
          </p:nvSpPr>
          <p:spPr>
            <a:xfrm>
              <a:off x="8196" y="3126"/>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03</a:t>
              </a:r>
            </a:p>
          </p:txBody>
        </p:sp>
        <p:sp>
          <p:nvSpPr>
            <p:cNvPr id="14" name="文本框 13"/>
            <p:cNvSpPr txBox="1"/>
            <p:nvPr>
              <p:custDataLst>
                <p:tags r:id="rId17"/>
              </p:custDataLst>
            </p:nvPr>
          </p:nvSpPr>
          <p:spPr>
            <a:xfrm>
              <a:off x="9331" y="3318"/>
              <a:ext cx="2345" cy="727"/>
            </a:xfrm>
            <a:prstGeom prst="rect">
              <a:avLst/>
            </a:prstGeom>
            <a:noFill/>
          </p:spPr>
          <p:txBody>
            <a:bodyPr wrap="square" rtlCol="0">
              <a:spAutoFit/>
            </a:bodyPr>
            <a:lstStyle/>
            <a:p>
              <a:r>
                <a:rPr lang="zh-CN" altLang="en-US" sz="2400" b="1" dirty="0">
                  <a:solidFill>
                    <a:schemeClr val="bg1"/>
                  </a:solidFill>
                </a:rPr>
                <a:t>项目细节</a:t>
              </a:r>
              <a:endParaRPr lang="en-US" altLang="zh-CN" sz="2400" b="1" dirty="0">
                <a:solidFill>
                  <a:schemeClr val="bg1"/>
                </a:solidFill>
              </a:endParaRPr>
            </a:p>
          </p:txBody>
        </p:sp>
        <p:cxnSp>
          <p:nvCxnSpPr>
            <p:cNvPr id="15" name="直接连接符 14"/>
            <p:cNvCxnSpPr/>
            <p:nvPr>
              <p:custDataLst>
                <p:tags r:id="rId18"/>
              </p:custDataLst>
            </p:nvPr>
          </p:nvCxnSpPr>
          <p:spPr>
            <a:xfrm>
              <a:off x="9645" y="4294"/>
              <a:ext cx="1717" cy="0"/>
            </a:xfrm>
            <a:prstGeom prst="line">
              <a:avLst/>
            </a:prstGeom>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custDataLst>
              <p:tags r:id="rId4"/>
            </p:custDataLst>
          </p:nvPr>
        </p:nvGrpSpPr>
        <p:grpSpPr>
          <a:xfrm>
            <a:off x="8800465" y="3168015"/>
            <a:ext cx="2227580" cy="732790"/>
            <a:chOff x="8194" y="3140"/>
            <a:chExt cx="3508" cy="1154"/>
          </a:xfrm>
        </p:grpSpPr>
        <p:sp>
          <p:nvSpPr>
            <p:cNvPr id="17" name="圆角矩形 16"/>
            <p:cNvSpPr/>
            <p:nvPr>
              <p:custDataLst>
                <p:tags r:id="rId13"/>
              </p:custDataLst>
            </p:nvPr>
          </p:nvSpPr>
          <p:spPr>
            <a:xfrm>
              <a:off x="8194" y="3140"/>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04</a:t>
              </a:r>
            </a:p>
          </p:txBody>
        </p:sp>
        <p:sp>
          <p:nvSpPr>
            <p:cNvPr id="18" name="文本框 17"/>
            <p:cNvSpPr txBox="1"/>
            <p:nvPr>
              <p:custDataLst>
                <p:tags r:id="rId14"/>
              </p:custDataLst>
            </p:nvPr>
          </p:nvSpPr>
          <p:spPr>
            <a:xfrm>
              <a:off x="9357" y="3320"/>
              <a:ext cx="2345" cy="727"/>
            </a:xfrm>
            <a:prstGeom prst="rect">
              <a:avLst/>
            </a:prstGeom>
            <a:noFill/>
          </p:spPr>
          <p:txBody>
            <a:bodyPr wrap="square" rtlCol="0">
              <a:spAutoFit/>
            </a:bodyPr>
            <a:lstStyle/>
            <a:p>
              <a:r>
                <a:rPr lang="zh-CN" altLang="en-US" sz="2400" b="1" dirty="0">
                  <a:solidFill>
                    <a:schemeClr val="bg1"/>
                  </a:solidFill>
                </a:rPr>
                <a:t>项目亮点</a:t>
              </a:r>
              <a:endParaRPr lang="en-US" altLang="zh-CN" sz="2400" b="1" dirty="0">
                <a:solidFill>
                  <a:schemeClr val="bg1"/>
                </a:solidFill>
              </a:endParaRPr>
            </a:p>
          </p:txBody>
        </p:sp>
        <p:cxnSp>
          <p:nvCxnSpPr>
            <p:cNvPr id="19" name="直接连接符 18"/>
            <p:cNvCxnSpPr/>
            <p:nvPr>
              <p:custDataLst>
                <p:tags r:id="rId15"/>
              </p:custDataLst>
            </p:nvPr>
          </p:nvCxnSpPr>
          <p:spPr>
            <a:xfrm>
              <a:off x="9645" y="4294"/>
              <a:ext cx="1717" cy="0"/>
            </a:xfrm>
            <a:prstGeom prst="line">
              <a:avLst/>
            </a:prstGeom>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custDataLst>
              <p:tags r:id="rId5"/>
            </p:custDataLst>
          </p:nvPr>
        </p:nvGrpSpPr>
        <p:grpSpPr>
          <a:xfrm>
            <a:off x="5203190" y="4235450"/>
            <a:ext cx="2227580" cy="629285"/>
            <a:chOff x="8194" y="3383"/>
            <a:chExt cx="3508" cy="991"/>
          </a:xfrm>
        </p:grpSpPr>
        <p:sp>
          <p:nvSpPr>
            <p:cNvPr id="20" name="圆角矩形 19"/>
            <p:cNvSpPr/>
            <p:nvPr>
              <p:custDataLst>
                <p:tags r:id="rId10"/>
              </p:custDataLst>
            </p:nvPr>
          </p:nvSpPr>
          <p:spPr>
            <a:xfrm>
              <a:off x="8194" y="3383"/>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a:solidFill>
                    <a:srgbClr val="C00000"/>
                  </a:solidFill>
                </a:rPr>
                <a:t>05</a:t>
              </a:r>
            </a:p>
          </p:txBody>
        </p:sp>
        <p:sp>
          <p:nvSpPr>
            <p:cNvPr id="21" name="文本框 20"/>
            <p:cNvSpPr txBox="1"/>
            <p:nvPr>
              <p:custDataLst>
                <p:tags r:id="rId11"/>
              </p:custDataLst>
            </p:nvPr>
          </p:nvSpPr>
          <p:spPr>
            <a:xfrm>
              <a:off x="9357" y="3480"/>
              <a:ext cx="2345" cy="725"/>
            </a:xfrm>
            <a:prstGeom prst="rect">
              <a:avLst/>
            </a:prstGeom>
            <a:noFill/>
          </p:spPr>
          <p:txBody>
            <a:bodyPr wrap="square" rtlCol="0">
              <a:spAutoFit/>
            </a:bodyPr>
            <a:lstStyle/>
            <a:p>
              <a:r>
                <a:rPr lang="zh-CN" altLang="zh-CN" sz="2400" b="1">
                  <a:solidFill>
                    <a:schemeClr val="bg1"/>
                  </a:solidFill>
                  <a:sym typeface="+mn-ea"/>
                </a:rPr>
                <a:t>成果展示</a:t>
              </a:r>
              <a:endParaRPr lang="zh-CN" altLang="zh-CN" sz="2400" b="1">
                <a:solidFill>
                  <a:schemeClr val="bg1"/>
                </a:solidFill>
              </a:endParaRPr>
            </a:p>
          </p:txBody>
        </p:sp>
        <p:cxnSp>
          <p:nvCxnSpPr>
            <p:cNvPr id="22" name="直接连接符 21"/>
            <p:cNvCxnSpPr/>
            <p:nvPr>
              <p:custDataLst>
                <p:tags r:id="rId12"/>
              </p:custDataLst>
            </p:nvPr>
          </p:nvCxnSpPr>
          <p:spPr>
            <a:xfrm>
              <a:off x="9645" y="4294"/>
              <a:ext cx="1717" cy="0"/>
            </a:xfrm>
            <a:prstGeom prst="line">
              <a:avLst/>
            </a:prstGeom>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6"/>
            </p:custDataLst>
          </p:nvPr>
        </p:nvGrpSpPr>
        <p:grpSpPr>
          <a:xfrm>
            <a:off x="8786495" y="4212590"/>
            <a:ext cx="2241550" cy="629285"/>
            <a:chOff x="8327" y="3421"/>
            <a:chExt cx="3530" cy="991"/>
          </a:xfrm>
        </p:grpSpPr>
        <p:sp>
          <p:nvSpPr>
            <p:cNvPr id="25" name="圆角矩形 24"/>
            <p:cNvSpPr/>
            <p:nvPr>
              <p:custDataLst>
                <p:tags r:id="rId7"/>
              </p:custDataLst>
            </p:nvPr>
          </p:nvSpPr>
          <p:spPr>
            <a:xfrm>
              <a:off x="8327" y="3421"/>
              <a:ext cx="943" cy="991"/>
            </a:xfrm>
            <a:prstGeom prst="round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C00000"/>
                  </a:solidFill>
                </a:rPr>
                <a:t>06</a:t>
              </a:r>
            </a:p>
          </p:txBody>
        </p:sp>
        <p:sp>
          <p:nvSpPr>
            <p:cNvPr id="26" name="文本框 25"/>
            <p:cNvSpPr txBox="1"/>
            <p:nvPr>
              <p:custDataLst>
                <p:tags r:id="rId8"/>
              </p:custDataLst>
            </p:nvPr>
          </p:nvSpPr>
          <p:spPr>
            <a:xfrm>
              <a:off x="9512" y="3568"/>
              <a:ext cx="2345" cy="725"/>
            </a:xfrm>
            <a:prstGeom prst="rect">
              <a:avLst/>
            </a:prstGeom>
            <a:noFill/>
          </p:spPr>
          <p:txBody>
            <a:bodyPr wrap="square" rtlCol="0">
              <a:spAutoFit/>
            </a:bodyPr>
            <a:lstStyle/>
            <a:p>
              <a:r>
                <a:rPr lang="zh-CN" altLang="zh-CN" sz="2400" b="1" dirty="0">
                  <a:solidFill>
                    <a:schemeClr val="bg1"/>
                  </a:solidFill>
                </a:rPr>
                <a:t>收获</a:t>
              </a:r>
            </a:p>
          </p:txBody>
        </p:sp>
        <p:cxnSp>
          <p:nvCxnSpPr>
            <p:cNvPr id="27" name="直接连接符 26"/>
            <p:cNvCxnSpPr/>
            <p:nvPr>
              <p:custDataLst>
                <p:tags r:id="rId9"/>
              </p:custDataLst>
            </p:nvPr>
          </p:nvCxnSpPr>
          <p:spPr>
            <a:xfrm>
              <a:off x="9645" y="4294"/>
              <a:ext cx="1717" cy="0"/>
            </a:xfrm>
            <a:prstGeom prst="line">
              <a:avLst/>
            </a:prstGeom>
            <a:ln>
              <a:solidFill>
                <a:schemeClr val="bg1">
                  <a:alpha val="51000"/>
                </a:schemeClr>
              </a:solidFill>
              <a:prstDash val="dashDot"/>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p:cNvSpPr txBox="1"/>
          <p:nvPr/>
        </p:nvSpPr>
        <p:spPr>
          <a:xfrm>
            <a:off x="4507230" y="2620010"/>
            <a:ext cx="4667885" cy="1322070"/>
          </a:xfrm>
          <a:prstGeom prst="rect">
            <a:avLst/>
          </a:prstGeom>
          <a:noFill/>
        </p:spPr>
        <p:txBody>
          <a:bodyPr wrap="square" rtlCol="0">
            <a:spAutoFit/>
          </a:bodyPr>
          <a:lstStyle/>
          <a:p>
            <a:r>
              <a:rPr lang="zh-CN" altLang="en-US" sz="8000" b="1" spc="800">
                <a:solidFill>
                  <a:srgbClr val="C00000"/>
                </a:solidFill>
                <a:uFillTx/>
              </a:rPr>
              <a:t>项目背景</a:t>
            </a:r>
          </a:p>
        </p:txBody>
      </p:sp>
      <p:pic>
        <p:nvPicPr>
          <p:cNvPr id="7" name="图片 6"/>
          <p:cNvPicPr>
            <a:picLocks noChangeAspect="1"/>
          </p:cNvPicPr>
          <p:nvPr/>
        </p:nvPicPr>
        <p:blipFill>
          <a:blip r:embed="rId4"/>
          <a:stretch>
            <a:fillRect/>
          </a:stretch>
        </p:blipFill>
        <p:spPr>
          <a:xfrm>
            <a:off x="11002845" y="-85696"/>
            <a:ext cx="1097506" cy="562358"/>
          </a:xfrm>
          <a:prstGeom prst="rect">
            <a:avLst/>
          </a:prstGeom>
        </p:spPr>
      </p:pic>
      <p:sp>
        <p:nvSpPr>
          <p:cNvPr id="12" name="六边形 11"/>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a:solidFill>
                  <a:schemeClr val="bg1"/>
                </a:solidFill>
                <a:sym typeface="+mn-ea"/>
              </a:rPr>
              <a:t>PART 01</a:t>
            </a:r>
            <a:endParaRPr lang="en-US" sz="4000"/>
          </a:p>
        </p:txBody>
      </p:sp>
      <p:sp>
        <p:nvSpPr>
          <p:cNvPr id="13" name="流程图: 手动输入 12"/>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项目背景</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09D49269-6B60-D6BC-F30D-C791DB84CF94}"/>
              </a:ext>
            </a:extLst>
          </p:cNvPr>
          <p:cNvSpPr txBox="1"/>
          <p:nvPr/>
        </p:nvSpPr>
        <p:spPr>
          <a:xfrm>
            <a:off x="1127622" y="1670732"/>
            <a:ext cx="9936756" cy="3744615"/>
          </a:xfrm>
          <a:prstGeom prst="rect">
            <a:avLst/>
          </a:prstGeom>
          <a:noFill/>
        </p:spPr>
        <p:txBody>
          <a:bodyPr wrap="square">
            <a:spAutoFit/>
          </a:bodyPr>
          <a:lstStyle/>
          <a:p>
            <a:pPr algn="l" fontAlgn="base">
              <a:spcAft>
                <a:spcPts val="750"/>
              </a:spcAft>
            </a:pPr>
            <a:r>
              <a:rPr lang="zh-CN" altLang="en-US" sz="2800" b="0" i="0" dirty="0">
                <a:solidFill>
                  <a:srgbClr val="24292E"/>
                </a:solidFill>
                <a:effectLst/>
                <a:latin typeface="Helvetica Neue"/>
              </a:rPr>
              <a:t>  在快节奏的现代生活中，寻找一款能够带来刺激与欢乐的本地多人游戏成为许多玩家的需求。</a:t>
            </a:r>
            <a:r>
              <a:rPr lang="en-US" altLang="zh-CN" sz="2800" b="0" i="0" dirty="0">
                <a:solidFill>
                  <a:srgbClr val="24292E"/>
                </a:solidFill>
                <a:effectLst/>
                <a:latin typeface="Helvetica Neue"/>
              </a:rPr>
              <a:t>"</a:t>
            </a:r>
            <a:r>
              <a:rPr lang="zh-CN" altLang="en-US" sz="2800" b="0" i="0" dirty="0">
                <a:solidFill>
                  <a:srgbClr val="24292E"/>
                </a:solidFill>
                <a:effectLst/>
                <a:latin typeface="Helvetica Neue"/>
              </a:rPr>
              <a:t>双雄激战</a:t>
            </a:r>
            <a:r>
              <a:rPr lang="en-US" altLang="zh-CN" sz="2800" b="0" i="0" dirty="0">
                <a:solidFill>
                  <a:srgbClr val="24292E"/>
                </a:solidFill>
                <a:effectLst/>
                <a:latin typeface="Helvetica Neue"/>
              </a:rPr>
              <a:t>"</a:t>
            </a:r>
            <a:r>
              <a:rPr lang="zh-CN" altLang="en-US" sz="2800" b="0" i="0" dirty="0">
                <a:solidFill>
                  <a:srgbClr val="24292E"/>
                </a:solidFill>
                <a:effectLst/>
                <a:latin typeface="Helvetica Neue"/>
              </a:rPr>
              <a:t>应运而生，旨在打造一款集趣味性、竞技性于一体的横板格斗游戏，让玩家在紧张刺激的对战中体验格斗游戏的魅力，同时促进玩家之间的互动与交流。</a:t>
            </a:r>
            <a:endParaRPr lang="en-US" altLang="zh-CN" sz="2800" b="0" i="0" dirty="0">
              <a:solidFill>
                <a:srgbClr val="24292E"/>
              </a:solidFill>
              <a:effectLst/>
              <a:latin typeface="Helvetica Neue"/>
            </a:endParaRPr>
          </a:p>
          <a:p>
            <a:pPr algn="l" fontAlgn="base">
              <a:spcAft>
                <a:spcPts val="750"/>
              </a:spcAft>
            </a:pPr>
            <a:endParaRPr lang="zh-CN" altLang="en-US" sz="2800" b="0" i="0" dirty="0">
              <a:solidFill>
                <a:srgbClr val="24292E"/>
              </a:solidFill>
              <a:effectLst/>
              <a:latin typeface="Helvetica Neue"/>
            </a:endParaRPr>
          </a:p>
          <a:p>
            <a:pPr algn="l" fontAlgn="base"/>
            <a:r>
              <a:rPr lang="zh-CN" altLang="en-US" sz="2800" b="0" i="0" dirty="0">
                <a:solidFill>
                  <a:srgbClr val="24292E"/>
                </a:solidFill>
                <a:effectLst/>
                <a:latin typeface="Helvetica Neue"/>
              </a:rPr>
              <a:t>  游戏支持两人本地操作，拥有丰富的角色技能系统、绚丽的特效与刺激的音效，带给玩家酣畅淋漓的战斗体验</a:t>
            </a:r>
            <a:r>
              <a:rPr lang="zh-CN" altLang="en-US" b="0" i="0" dirty="0">
                <a:solidFill>
                  <a:srgbClr val="24292E"/>
                </a:solidFill>
                <a:effectLst/>
                <a:latin typeface="Helvetica Neue"/>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FD862-1176-4447-D850-B7C17B927558}"/>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40964CE6-6530-9E67-22C9-CC7987A85D9D}"/>
              </a:ext>
            </a:extLst>
          </p:cNvPr>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a:extLst>
              <a:ext uri="{FF2B5EF4-FFF2-40B4-BE49-F238E27FC236}">
                <a16:creationId xmlns:a16="http://schemas.microsoft.com/office/drawing/2014/main" id="{DC1069DE-FA89-80CF-3AC5-37193E8093E9}"/>
              </a:ext>
            </a:extLst>
          </p:cNvPr>
          <p:cNvSpPr txBox="1"/>
          <p:nvPr/>
        </p:nvSpPr>
        <p:spPr>
          <a:xfrm>
            <a:off x="4507230" y="2620010"/>
            <a:ext cx="4667885" cy="1323439"/>
          </a:xfrm>
          <a:prstGeom prst="rect">
            <a:avLst/>
          </a:prstGeom>
          <a:noFill/>
        </p:spPr>
        <p:txBody>
          <a:bodyPr wrap="square" rtlCol="0">
            <a:spAutoFit/>
          </a:bodyPr>
          <a:lstStyle/>
          <a:p>
            <a:r>
              <a:rPr lang="zh-CN" altLang="en-US" sz="8000" b="1" spc="800" dirty="0">
                <a:solidFill>
                  <a:srgbClr val="C00000"/>
                </a:solidFill>
                <a:uFillTx/>
              </a:rPr>
              <a:t>项目简介</a:t>
            </a:r>
          </a:p>
        </p:txBody>
      </p:sp>
      <p:pic>
        <p:nvPicPr>
          <p:cNvPr id="7" name="图片 6">
            <a:extLst>
              <a:ext uri="{FF2B5EF4-FFF2-40B4-BE49-F238E27FC236}">
                <a16:creationId xmlns:a16="http://schemas.microsoft.com/office/drawing/2014/main" id="{B2473FC4-496F-B796-3FF7-E43063C5225C}"/>
              </a:ext>
            </a:extLst>
          </p:cNvPr>
          <p:cNvPicPr>
            <a:picLocks noChangeAspect="1"/>
          </p:cNvPicPr>
          <p:nvPr/>
        </p:nvPicPr>
        <p:blipFill>
          <a:blip r:embed="rId4"/>
          <a:stretch>
            <a:fillRect/>
          </a:stretch>
        </p:blipFill>
        <p:spPr>
          <a:xfrm>
            <a:off x="11002845" y="-85696"/>
            <a:ext cx="1097506" cy="562358"/>
          </a:xfrm>
          <a:prstGeom prst="rect">
            <a:avLst/>
          </a:prstGeom>
        </p:spPr>
      </p:pic>
      <p:sp>
        <p:nvSpPr>
          <p:cNvPr id="12" name="六边形 11">
            <a:extLst>
              <a:ext uri="{FF2B5EF4-FFF2-40B4-BE49-F238E27FC236}">
                <a16:creationId xmlns:a16="http://schemas.microsoft.com/office/drawing/2014/main" id="{CA7585D1-39A5-9D8B-6002-FB7AA5436DD3}"/>
              </a:ext>
            </a:extLst>
          </p:cNvPr>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sym typeface="+mn-ea"/>
              </a:rPr>
              <a:t>PART 02</a:t>
            </a:r>
            <a:endParaRPr lang="en-US" sz="4000" dirty="0"/>
          </a:p>
        </p:txBody>
      </p:sp>
      <p:sp>
        <p:nvSpPr>
          <p:cNvPr id="13" name="流程图: 手动输入 12">
            <a:extLst>
              <a:ext uri="{FF2B5EF4-FFF2-40B4-BE49-F238E27FC236}">
                <a16:creationId xmlns:a16="http://schemas.microsoft.com/office/drawing/2014/main" id="{04F969F4-DA61-B470-7A66-1B135FD462EB}"/>
              </a:ext>
            </a:extLst>
          </p:cNvPr>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2971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5DE17-EC49-4D4E-14DD-FAD7DFF4F2B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EBE9C7A-B59E-C7C6-C2F6-C42741323B32}"/>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项目简介</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4931328E-6FBB-DDA2-C396-CD4DAACA3593}"/>
              </a:ext>
            </a:extLst>
          </p:cNvPr>
          <p:cNvSpPr txBox="1"/>
          <p:nvPr/>
        </p:nvSpPr>
        <p:spPr>
          <a:xfrm>
            <a:off x="1127622" y="1670732"/>
            <a:ext cx="7377400" cy="4683333"/>
          </a:xfrm>
          <a:prstGeom prst="rect">
            <a:avLst/>
          </a:prstGeom>
          <a:noFill/>
        </p:spPr>
        <p:txBody>
          <a:bodyPr wrap="square">
            <a:spAutoFit/>
          </a:bodyPr>
          <a:lstStyle/>
          <a:p>
            <a:pPr algn="l">
              <a:spcBef>
                <a:spcPts val="1050"/>
              </a:spcBef>
            </a:pPr>
            <a:r>
              <a:rPr lang="en-US" altLang="zh-CN" sz="2800" b="0" i="0" dirty="0">
                <a:solidFill>
                  <a:srgbClr val="05073B"/>
                </a:solidFill>
                <a:effectLst/>
                <a:latin typeface="-apple-system"/>
              </a:rPr>
              <a:t>《</a:t>
            </a:r>
            <a:r>
              <a:rPr lang="zh-CN" altLang="en-US" sz="2800" b="0" i="0" dirty="0">
                <a:solidFill>
                  <a:srgbClr val="05073B"/>
                </a:solidFill>
                <a:effectLst/>
                <a:latin typeface="-apple-system"/>
              </a:rPr>
              <a:t>双雄激战</a:t>
            </a:r>
            <a:r>
              <a:rPr lang="en-US" altLang="zh-CN" sz="2800" b="0" i="0" dirty="0">
                <a:solidFill>
                  <a:srgbClr val="05073B"/>
                </a:solidFill>
                <a:effectLst/>
                <a:latin typeface="-apple-system"/>
              </a:rPr>
              <a:t>》</a:t>
            </a:r>
            <a:r>
              <a:rPr lang="zh-CN" altLang="en-US" sz="2800" b="0" i="0" dirty="0">
                <a:solidFill>
                  <a:srgbClr val="05073B"/>
                </a:solidFill>
                <a:effectLst/>
                <a:latin typeface="-apple-system"/>
              </a:rPr>
              <a:t>是一款支持双人对战与双人合作的动作冒险游戏，旨在为玩家提供紧张刺激且充满策略性的游戏体验</a:t>
            </a:r>
            <a:endParaRPr lang="en-US" altLang="zh-CN" sz="2800" b="0" i="0" dirty="0">
              <a:solidFill>
                <a:srgbClr val="05073B"/>
              </a:solidFill>
              <a:effectLst/>
              <a:latin typeface="-apple-system"/>
            </a:endParaRPr>
          </a:p>
          <a:p>
            <a:pPr algn="l">
              <a:spcBef>
                <a:spcPts val="1050"/>
              </a:spcBef>
            </a:pPr>
            <a:endParaRPr lang="zh-CN" altLang="en-US" sz="2800" b="0" i="0" dirty="0">
              <a:solidFill>
                <a:srgbClr val="05073B"/>
              </a:solidFill>
              <a:effectLst/>
              <a:latin typeface="-apple-system"/>
            </a:endParaRPr>
          </a:p>
          <a:p>
            <a:pPr algn="l">
              <a:spcBef>
                <a:spcPts val="1050"/>
              </a:spcBef>
            </a:pPr>
            <a:r>
              <a:rPr lang="zh-CN" altLang="en-US" sz="2800" b="1" i="0" dirty="0">
                <a:solidFill>
                  <a:srgbClr val="05073B"/>
                </a:solidFill>
                <a:effectLst/>
                <a:latin typeface="-apple-system"/>
              </a:rPr>
              <a:t>系统要求方面</a:t>
            </a:r>
            <a:r>
              <a:rPr lang="zh-CN" altLang="en-US" sz="2800" b="0" i="0" dirty="0">
                <a:solidFill>
                  <a:srgbClr val="05073B"/>
                </a:solidFill>
                <a:effectLst/>
                <a:latin typeface="-apple-system"/>
              </a:rPr>
              <a:t>：</a:t>
            </a:r>
            <a:br>
              <a:rPr lang="zh-CN" altLang="en-US" sz="2800" b="0" i="0" dirty="0">
                <a:solidFill>
                  <a:srgbClr val="05073B"/>
                </a:solidFill>
                <a:effectLst/>
                <a:latin typeface="-apple-system"/>
              </a:rPr>
            </a:br>
            <a:r>
              <a:rPr lang="zh-CN" altLang="en-US" sz="2800" b="0" i="0" dirty="0">
                <a:solidFill>
                  <a:srgbClr val="05073B"/>
                </a:solidFill>
                <a:effectLst/>
                <a:latin typeface="-apple-system"/>
              </a:rPr>
              <a:t>游戏支持</a:t>
            </a:r>
            <a:r>
              <a:rPr lang="en-US" altLang="zh-CN" sz="2800" b="0" i="0" dirty="0">
                <a:solidFill>
                  <a:srgbClr val="05073B"/>
                </a:solidFill>
                <a:effectLst/>
                <a:latin typeface="-apple-system"/>
              </a:rPr>
              <a:t>Windows</a:t>
            </a:r>
            <a:r>
              <a:rPr lang="zh-CN" altLang="en-US" sz="2800" b="0" i="0" dirty="0">
                <a:solidFill>
                  <a:srgbClr val="05073B"/>
                </a:solidFill>
                <a:effectLst/>
                <a:latin typeface="-apple-system"/>
              </a:rPr>
              <a:t>系统的</a:t>
            </a:r>
            <a:r>
              <a:rPr lang="en-US" altLang="zh-CN" sz="2800" b="0" i="0" dirty="0">
                <a:solidFill>
                  <a:srgbClr val="05073B"/>
                </a:solidFill>
                <a:effectLst/>
                <a:latin typeface="-apple-system"/>
              </a:rPr>
              <a:t>PC</a:t>
            </a:r>
            <a:r>
              <a:rPr lang="zh-CN" altLang="en-US" sz="2800" b="0" i="0" dirty="0">
                <a:solidFill>
                  <a:srgbClr val="05073B"/>
                </a:solidFill>
                <a:effectLst/>
                <a:latin typeface="-apple-system"/>
              </a:rPr>
              <a:t>，建议主存容量</a:t>
            </a:r>
            <a:r>
              <a:rPr lang="en-US" altLang="zh-CN" sz="2800" b="0" i="0" dirty="0">
                <a:solidFill>
                  <a:srgbClr val="05073B"/>
                </a:solidFill>
                <a:effectLst/>
                <a:latin typeface="-apple-system"/>
              </a:rPr>
              <a:t>4GB</a:t>
            </a:r>
            <a:r>
              <a:rPr lang="zh-CN" altLang="en-US" sz="2800" b="0" i="0" dirty="0">
                <a:solidFill>
                  <a:srgbClr val="05073B"/>
                </a:solidFill>
                <a:effectLst/>
                <a:latin typeface="-apple-system"/>
              </a:rPr>
              <a:t>及以上，显卡支持</a:t>
            </a:r>
            <a:r>
              <a:rPr lang="en-US" altLang="zh-CN" sz="2800" b="0" i="0" dirty="0">
                <a:solidFill>
                  <a:srgbClr val="05073B"/>
                </a:solidFill>
                <a:effectLst/>
                <a:latin typeface="-apple-system"/>
              </a:rPr>
              <a:t>DirectX 9.0c</a:t>
            </a:r>
            <a:r>
              <a:rPr lang="zh-CN" altLang="en-US" sz="2800" b="0" i="0" dirty="0">
                <a:solidFill>
                  <a:srgbClr val="05073B"/>
                </a:solidFill>
                <a:effectLst/>
                <a:latin typeface="-apple-system"/>
              </a:rPr>
              <a:t>及以上，输入设备需配备键盘（含小键盘）和鼠标或触控板，输出设备推荐</a:t>
            </a:r>
            <a:r>
              <a:rPr lang="en-US" altLang="zh-CN" sz="2800" b="0" i="0" dirty="0">
                <a:solidFill>
                  <a:srgbClr val="05073B"/>
                </a:solidFill>
                <a:effectLst/>
                <a:latin typeface="-apple-system"/>
              </a:rPr>
              <a:t>144hz</a:t>
            </a:r>
            <a:r>
              <a:rPr lang="zh-CN" altLang="en-US" sz="2800" b="0" i="0" dirty="0">
                <a:solidFill>
                  <a:srgbClr val="05073B"/>
                </a:solidFill>
                <a:effectLst/>
                <a:latin typeface="-apple-system"/>
              </a:rPr>
              <a:t>的显示器以及音响或耳机，以确保最佳游戏体验。</a:t>
            </a:r>
          </a:p>
        </p:txBody>
      </p:sp>
      <p:pic>
        <p:nvPicPr>
          <p:cNvPr id="5" name="图片 4">
            <a:extLst>
              <a:ext uri="{FF2B5EF4-FFF2-40B4-BE49-F238E27FC236}">
                <a16:creationId xmlns:a16="http://schemas.microsoft.com/office/drawing/2014/main" id="{3E6CCF92-C091-0B94-0E52-3287AE5AA3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4632" y="2437482"/>
            <a:ext cx="2846251" cy="2429409"/>
          </a:xfrm>
          <a:prstGeom prst="rect">
            <a:avLst/>
          </a:prstGeom>
        </p:spPr>
      </p:pic>
    </p:spTree>
    <p:extLst>
      <p:ext uri="{BB962C8B-B14F-4D97-AF65-F5344CB8AC3E}">
        <p14:creationId xmlns:p14="http://schemas.microsoft.com/office/powerpoint/2010/main" val="2180604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BDD3-D03B-FEA5-219E-F4120A3DE29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27F891A-4AE0-7987-F5E3-1FE53C180015}"/>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项目简介</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B72E398E-EE39-D07C-4247-9C0B80E973B8}"/>
              </a:ext>
            </a:extLst>
          </p:cNvPr>
          <p:cNvSpPr txBox="1"/>
          <p:nvPr/>
        </p:nvSpPr>
        <p:spPr>
          <a:xfrm>
            <a:off x="1127622" y="1670732"/>
            <a:ext cx="9936756" cy="3075201"/>
          </a:xfrm>
          <a:prstGeom prst="rect">
            <a:avLst/>
          </a:prstGeom>
          <a:noFill/>
        </p:spPr>
        <p:txBody>
          <a:bodyPr wrap="square">
            <a:spAutoFit/>
          </a:bodyPr>
          <a:lstStyle/>
          <a:p>
            <a:pPr algn="l">
              <a:spcBef>
                <a:spcPts val="1050"/>
              </a:spcBef>
            </a:pPr>
            <a:r>
              <a:rPr lang="zh-CN" altLang="en-US" sz="2800" b="1" i="0" dirty="0">
                <a:solidFill>
                  <a:srgbClr val="05073B"/>
                </a:solidFill>
                <a:effectLst/>
                <a:latin typeface="-apple-system"/>
              </a:rPr>
              <a:t>游戏界面与功能丰富多样</a:t>
            </a:r>
            <a:r>
              <a:rPr lang="zh-CN" altLang="en-US" sz="2800" b="0" i="0" dirty="0">
                <a:solidFill>
                  <a:srgbClr val="05073B"/>
                </a:solidFill>
                <a:effectLst/>
                <a:latin typeface="-apple-system"/>
              </a:rPr>
              <a:t>：</a:t>
            </a:r>
          </a:p>
          <a:p>
            <a:pPr algn="l">
              <a:spcBef>
                <a:spcPts val="1050"/>
              </a:spcBef>
              <a:buFont typeface="Arial" panose="020B0604020202020204" pitchFamily="34" charset="0"/>
              <a:buChar char="•"/>
            </a:pPr>
            <a:r>
              <a:rPr lang="zh-CN" altLang="en-US" sz="2800" b="0" i="0" dirty="0">
                <a:solidFill>
                  <a:srgbClr val="05073B"/>
                </a:solidFill>
                <a:effectLst/>
                <a:latin typeface="PingFang-SC-Regular"/>
              </a:rPr>
              <a:t>主菜单提供开始游戏、游戏帮助和退出游戏三个选项。</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游戏帮助界面允许玩家键入问题并提交给大语言模型获取解答。</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模式选择界面让玩家可以选择双人对战或双人合作模式。</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角色选择界面让玩家可以依次选择自己的角色。</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地图选择界面提供多个地图供玩家选择，进入战斗页面。</a:t>
            </a:r>
          </a:p>
        </p:txBody>
      </p:sp>
    </p:spTree>
    <p:extLst>
      <p:ext uri="{BB962C8B-B14F-4D97-AF65-F5344CB8AC3E}">
        <p14:creationId xmlns:p14="http://schemas.microsoft.com/office/powerpoint/2010/main" val="4225616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E829C-9ACC-DC41-E327-A16B1DB8E14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69F39AA-1D60-0212-F5D6-2D4E229C17C6}"/>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项目简介</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9D90441B-0068-6098-D35C-0771FF23B265}"/>
              </a:ext>
            </a:extLst>
          </p:cNvPr>
          <p:cNvSpPr txBox="1"/>
          <p:nvPr/>
        </p:nvSpPr>
        <p:spPr>
          <a:xfrm>
            <a:off x="749261" y="1190686"/>
            <a:ext cx="5111712" cy="5737468"/>
          </a:xfrm>
          <a:prstGeom prst="rect">
            <a:avLst/>
          </a:prstGeom>
          <a:noFill/>
        </p:spPr>
        <p:txBody>
          <a:bodyPr wrap="square">
            <a:spAutoFit/>
          </a:bodyPr>
          <a:lstStyle/>
          <a:p>
            <a:pPr algn="l">
              <a:spcBef>
                <a:spcPts val="1050"/>
              </a:spcBef>
            </a:pPr>
            <a:r>
              <a:rPr lang="zh-CN" altLang="en-US" sz="2800" b="1" i="0" dirty="0">
                <a:solidFill>
                  <a:srgbClr val="05073B"/>
                </a:solidFill>
                <a:effectLst/>
                <a:latin typeface="-apple-system"/>
              </a:rPr>
              <a:t>游戏规则明确且富有挑战性</a:t>
            </a:r>
            <a:r>
              <a:rPr lang="zh-CN" altLang="en-US" sz="2800" b="0" i="0" dirty="0">
                <a:solidFill>
                  <a:srgbClr val="05073B"/>
                </a:solidFill>
                <a:effectLst/>
                <a:latin typeface="-apple-system"/>
              </a:rPr>
              <a:t>：</a:t>
            </a:r>
          </a:p>
          <a:p>
            <a:pPr algn="l">
              <a:spcBef>
                <a:spcPts val="1050"/>
              </a:spcBef>
              <a:buFont typeface="Arial" panose="020B0604020202020204" pitchFamily="34" charset="0"/>
              <a:buChar char="•"/>
            </a:pPr>
            <a:r>
              <a:rPr lang="zh-CN" altLang="en-US" sz="2800" b="0" i="0" dirty="0">
                <a:solidFill>
                  <a:srgbClr val="05073B"/>
                </a:solidFill>
                <a:effectLst/>
                <a:latin typeface="PingFang-SC-Regular"/>
              </a:rPr>
              <a:t>通用战斗规则包括角色血量机制、地形机制和通用增益机制，为游戏增添了策略性和深度。</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双人对战模式下，玩家需利用技能和增益块，配合地形，将敌方击溃。</a:t>
            </a:r>
          </a:p>
          <a:p>
            <a:pPr algn="l">
              <a:spcBef>
                <a:spcPts val="450"/>
              </a:spcBef>
              <a:buFont typeface="Arial" panose="020B0604020202020204" pitchFamily="34" charset="0"/>
              <a:buChar char="•"/>
            </a:pPr>
            <a:r>
              <a:rPr lang="zh-CN" altLang="en-US" sz="2800" b="0" i="0" dirty="0">
                <a:solidFill>
                  <a:srgbClr val="05073B"/>
                </a:solidFill>
                <a:effectLst/>
                <a:latin typeface="PingFang-SC-Regular"/>
              </a:rPr>
              <a:t>双人合作模式下，玩家需默契配合，共同迎战强大的电脑操控敌人。</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85FE3341-D96A-35A2-E962-2E1957C91D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28636" y="2152153"/>
            <a:ext cx="4621282" cy="2855012"/>
          </a:xfrm>
          <a:prstGeom prst="rect">
            <a:avLst/>
          </a:prstGeom>
        </p:spPr>
      </p:pic>
    </p:spTree>
    <p:extLst>
      <p:ext uri="{BB962C8B-B14F-4D97-AF65-F5344CB8AC3E}">
        <p14:creationId xmlns:p14="http://schemas.microsoft.com/office/powerpoint/2010/main" val="1726484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A965-68D0-1B33-A3F7-6D088B8C9AD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975E3E8-11D5-FFB2-45F3-3B1E9051E5D9}"/>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项目简介</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CF6A859D-0DE2-14FE-3D6F-AD199F3384D7}"/>
              </a:ext>
            </a:extLst>
          </p:cNvPr>
          <p:cNvSpPr txBox="1"/>
          <p:nvPr/>
        </p:nvSpPr>
        <p:spPr>
          <a:xfrm>
            <a:off x="749261" y="1362260"/>
            <a:ext cx="10693478" cy="2882840"/>
          </a:xfrm>
          <a:prstGeom prst="rect">
            <a:avLst/>
          </a:prstGeom>
          <a:noFill/>
        </p:spPr>
        <p:txBody>
          <a:bodyPr wrap="square">
            <a:spAutoFit/>
          </a:bodyPr>
          <a:lstStyle/>
          <a:p>
            <a:pPr algn="l">
              <a:spcBef>
                <a:spcPts val="1050"/>
              </a:spcBef>
            </a:pPr>
            <a:r>
              <a:rPr lang="zh-CN" altLang="en-US" sz="2800" b="0" i="0" dirty="0">
                <a:solidFill>
                  <a:srgbClr val="05073B"/>
                </a:solidFill>
                <a:effectLst/>
                <a:latin typeface="-apple-system"/>
              </a:rPr>
              <a:t>  游戏提供多名特色鲜明的角色供玩家选择，如擅长持续消耗的法师塞西尔、机动性出众的武士星见</a:t>
            </a:r>
            <a:r>
              <a:rPr lang="en-US" altLang="zh-CN" sz="2800" b="0" i="0" dirty="0">
                <a:solidFill>
                  <a:srgbClr val="05073B"/>
                </a:solidFill>
                <a:effectLst/>
                <a:latin typeface="-apple-system"/>
              </a:rPr>
              <a:t>·</a:t>
            </a:r>
            <a:r>
              <a:rPr lang="zh-CN" altLang="en-US" sz="2800" b="0" i="0" dirty="0">
                <a:solidFill>
                  <a:srgbClr val="05073B"/>
                </a:solidFill>
                <a:effectLst/>
                <a:latin typeface="-apple-system"/>
              </a:rPr>
              <a:t>雅、输出平滑的弓箭手阿尔忒弥斯以及近战伤害高的赛亚人贝吉塔。此外，还有双人合作模式中电脑操控的熔火战士皮里佛勒戈同作为强大对手。</a:t>
            </a:r>
            <a:endParaRPr lang="zh-CN" altLang="en-US" sz="2800" b="0" i="0" dirty="0">
              <a:solidFill>
                <a:srgbClr val="05073B"/>
              </a:solidFill>
              <a:effectLst/>
              <a:latin typeface="PingFang-SC-Regular"/>
            </a:endParaRP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F97CB7F2-7B95-A118-5D0A-EB0972DFA7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3995" y="3235947"/>
            <a:ext cx="7844010" cy="3090970"/>
          </a:xfrm>
          <a:prstGeom prst="rect">
            <a:avLst/>
          </a:prstGeom>
        </p:spPr>
      </p:pic>
    </p:spTree>
    <p:extLst>
      <p:ext uri="{BB962C8B-B14F-4D97-AF65-F5344CB8AC3E}">
        <p14:creationId xmlns:p14="http://schemas.microsoft.com/office/powerpoint/2010/main" val="3358814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9AB4-B110-6689-47C4-0FEB407BEEB0}"/>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9AD71BCB-FE61-8AB6-55FF-EDC30A1671B2}"/>
              </a:ext>
            </a:extLst>
          </p:cNvPr>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a:extLst>
              <a:ext uri="{FF2B5EF4-FFF2-40B4-BE49-F238E27FC236}">
                <a16:creationId xmlns:a16="http://schemas.microsoft.com/office/drawing/2014/main" id="{7DA0C4AF-FF14-BEB1-74F4-275FA9780104}"/>
              </a:ext>
            </a:extLst>
          </p:cNvPr>
          <p:cNvSpPr txBox="1"/>
          <p:nvPr/>
        </p:nvSpPr>
        <p:spPr>
          <a:xfrm>
            <a:off x="4507230" y="2620010"/>
            <a:ext cx="4667885" cy="1323439"/>
          </a:xfrm>
          <a:prstGeom prst="rect">
            <a:avLst/>
          </a:prstGeom>
          <a:noFill/>
        </p:spPr>
        <p:txBody>
          <a:bodyPr wrap="square" rtlCol="0">
            <a:spAutoFit/>
          </a:bodyPr>
          <a:lstStyle/>
          <a:p>
            <a:r>
              <a:rPr lang="zh-CN" altLang="en-US" sz="8000" b="1" spc="800" dirty="0">
                <a:solidFill>
                  <a:srgbClr val="C00000"/>
                </a:solidFill>
                <a:uFillTx/>
              </a:rPr>
              <a:t>项目细节</a:t>
            </a:r>
          </a:p>
        </p:txBody>
      </p:sp>
      <p:pic>
        <p:nvPicPr>
          <p:cNvPr id="7" name="图片 6">
            <a:extLst>
              <a:ext uri="{FF2B5EF4-FFF2-40B4-BE49-F238E27FC236}">
                <a16:creationId xmlns:a16="http://schemas.microsoft.com/office/drawing/2014/main" id="{4CA615AE-02DB-A1C5-D54B-C88E354B5A7C}"/>
              </a:ext>
            </a:extLst>
          </p:cNvPr>
          <p:cNvPicPr>
            <a:picLocks noChangeAspect="1"/>
          </p:cNvPicPr>
          <p:nvPr/>
        </p:nvPicPr>
        <p:blipFill>
          <a:blip r:embed="rId4"/>
          <a:stretch>
            <a:fillRect/>
          </a:stretch>
        </p:blipFill>
        <p:spPr>
          <a:xfrm>
            <a:off x="11002845" y="-85696"/>
            <a:ext cx="1097506" cy="562358"/>
          </a:xfrm>
          <a:prstGeom prst="rect">
            <a:avLst/>
          </a:prstGeom>
        </p:spPr>
      </p:pic>
      <p:sp>
        <p:nvSpPr>
          <p:cNvPr id="12" name="六边形 11">
            <a:extLst>
              <a:ext uri="{FF2B5EF4-FFF2-40B4-BE49-F238E27FC236}">
                <a16:creationId xmlns:a16="http://schemas.microsoft.com/office/drawing/2014/main" id="{DEB157C0-5EF3-AB8B-0096-8E7875E5EBAD}"/>
              </a:ext>
            </a:extLst>
          </p:cNvPr>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sym typeface="+mn-ea"/>
              </a:rPr>
              <a:t>PART 03</a:t>
            </a:r>
            <a:endParaRPr lang="en-US" sz="4000" dirty="0"/>
          </a:p>
        </p:txBody>
      </p:sp>
      <p:sp>
        <p:nvSpPr>
          <p:cNvPr id="13" name="流程图: 手动输入 12">
            <a:extLst>
              <a:ext uri="{FF2B5EF4-FFF2-40B4-BE49-F238E27FC236}">
                <a16:creationId xmlns:a16="http://schemas.microsoft.com/office/drawing/2014/main" id="{239AECA7-184C-177E-546F-5C7ED6181074}"/>
              </a:ext>
            </a:extLst>
          </p:cNvPr>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2233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D1EB-F2AD-EEEC-D805-8B3E6233531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F73E2F9-C7BB-0E42-F5FD-14D1AAD51DFD}"/>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065DC6CE-9D6A-0C83-BC2B-462CF849221E}"/>
              </a:ext>
            </a:extLst>
          </p:cNvPr>
          <p:cNvSpPr txBox="1"/>
          <p:nvPr/>
        </p:nvSpPr>
        <p:spPr>
          <a:xfrm>
            <a:off x="2027219" y="1571591"/>
            <a:ext cx="10693478" cy="5132174"/>
          </a:xfrm>
          <a:prstGeom prst="rect">
            <a:avLst/>
          </a:prstGeom>
          <a:noFill/>
        </p:spPr>
        <p:txBody>
          <a:bodyPr wrap="square">
            <a:spAutoFit/>
          </a:bodyPr>
          <a:lstStyle/>
          <a:p>
            <a:pPr algn="l">
              <a:spcBef>
                <a:spcPts val="1050"/>
              </a:spcBef>
              <a:buFont typeface="Arial" panose="020B0604020202020204" pitchFamily="34" charset="0"/>
              <a:buChar char="•"/>
            </a:pPr>
            <a:r>
              <a:rPr lang="zh-CN" altLang="en-US" sz="2800" b="1" i="0" dirty="0">
                <a:solidFill>
                  <a:srgbClr val="05073B"/>
                </a:solidFill>
                <a:effectLst/>
                <a:latin typeface="-apple-system"/>
              </a:rPr>
              <a:t>模块划分</a:t>
            </a:r>
            <a:r>
              <a:rPr lang="zh-CN" altLang="en-US" sz="2800"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sz="2800" b="0" i="0" dirty="0">
                <a:solidFill>
                  <a:srgbClr val="05073B"/>
                </a:solidFill>
                <a:effectLst/>
                <a:latin typeface="PingFang-SC-Regular"/>
              </a:rPr>
              <a:t>主菜单模块</a:t>
            </a:r>
          </a:p>
          <a:p>
            <a:pPr marL="742950" lvl="1" indent="-285750" algn="l">
              <a:spcBef>
                <a:spcPts val="450"/>
              </a:spcBef>
              <a:buFont typeface="Arial" panose="020B0604020202020204" pitchFamily="34" charset="0"/>
              <a:buChar char="•"/>
            </a:pPr>
            <a:r>
              <a:rPr lang="zh-CN" altLang="en-US" sz="2800" b="0" i="0" dirty="0">
                <a:solidFill>
                  <a:srgbClr val="05073B"/>
                </a:solidFill>
                <a:effectLst/>
                <a:latin typeface="PingFang-SC-Regular"/>
              </a:rPr>
              <a:t>角色选择模块</a:t>
            </a:r>
          </a:p>
          <a:p>
            <a:pPr marL="742950" lvl="1" indent="-285750" algn="l">
              <a:spcBef>
                <a:spcPts val="450"/>
              </a:spcBef>
              <a:buFont typeface="Arial" panose="020B0604020202020204" pitchFamily="34" charset="0"/>
              <a:buChar char="•"/>
            </a:pPr>
            <a:r>
              <a:rPr lang="zh-CN" altLang="en-US" sz="2800" b="0" i="0" dirty="0">
                <a:solidFill>
                  <a:srgbClr val="05073B"/>
                </a:solidFill>
                <a:effectLst/>
                <a:latin typeface="PingFang-SC-Regular"/>
              </a:rPr>
              <a:t>地图选择模块</a:t>
            </a:r>
          </a:p>
          <a:p>
            <a:pPr marL="742950" lvl="1" indent="-285750" algn="l">
              <a:spcBef>
                <a:spcPts val="450"/>
              </a:spcBef>
              <a:buFont typeface="Arial" panose="020B0604020202020204" pitchFamily="34" charset="0"/>
              <a:buChar char="•"/>
            </a:pPr>
            <a:r>
              <a:rPr lang="zh-CN" altLang="en-US" sz="2800" b="0" i="0" dirty="0">
                <a:solidFill>
                  <a:srgbClr val="05073B"/>
                </a:solidFill>
                <a:effectLst/>
                <a:latin typeface="PingFang-SC-Regular"/>
              </a:rPr>
              <a:t>战斗模块</a:t>
            </a:r>
          </a:p>
          <a:p>
            <a:pPr marL="742950" lvl="1" indent="-285750" algn="l">
              <a:spcBef>
                <a:spcPts val="450"/>
              </a:spcBef>
              <a:buFont typeface="Arial" panose="020B0604020202020204" pitchFamily="34" charset="0"/>
              <a:buChar char="•"/>
            </a:pPr>
            <a:r>
              <a:rPr lang="zh-CN" altLang="en-US" sz="2800" b="0" i="0" dirty="0">
                <a:solidFill>
                  <a:srgbClr val="05073B"/>
                </a:solidFill>
                <a:effectLst/>
                <a:latin typeface="PingFang-SC-Regular"/>
              </a:rPr>
              <a:t>排行榜模块</a:t>
            </a:r>
          </a:p>
          <a:p>
            <a:pPr marL="742950" lvl="1" indent="-285750" algn="l">
              <a:spcBef>
                <a:spcPts val="450"/>
              </a:spcBef>
              <a:buFont typeface="Arial" panose="020B0604020202020204" pitchFamily="34" charset="0"/>
              <a:buChar char="•"/>
            </a:pPr>
            <a:r>
              <a:rPr lang="en-US" altLang="zh-CN" sz="2800" b="0" i="0" dirty="0">
                <a:solidFill>
                  <a:srgbClr val="05073B"/>
                </a:solidFill>
                <a:effectLst/>
                <a:latin typeface="PingFang-SC-Regular"/>
              </a:rPr>
              <a:t>Bot</a:t>
            </a:r>
            <a:r>
              <a:rPr lang="zh-CN" altLang="en-US" sz="2800" b="0" i="0" dirty="0">
                <a:solidFill>
                  <a:srgbClr val="05073B"/>
                </a:solidFill>
                <a:effectLst/>
                <a:latin typeface="PingFang-SC-Regular"/>
              </a:rPr>
              <a:t>模块</a:t>
            </a:r>
          </a:p>
          <a:p>
            <a:pPr marL="742950" lvl="1" indent="-285750" algn="l">
              <a:spcBef>
                <a:spcPts val="450"/>
              </a:spcBef>
              <a:buFont typeface="Arial" panose="020B0604020202020204" pitchFamily="34" charset="0"/>
              <a:buChar char="•"/>
            </a:pPr>
            <a:r>
              <a:rPr lang="zh-CN" altLang="en-US" sz="2800" b="0" i="0" dirty="0">
                <a:solidFill>
                  <a:srgbClr val="05073B"/>
                </a:solidFill>
                <a:effectLst/>
                <a:latin typeface="PingFang-SC-Regular"/>
              </a:rPr>
              <a:t>帮助模块</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48CD7F5E-9AF1-E684-7978-60B10A902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8031" y="844702"/>
            <a:ext cx="3598842" cy="5671776"/>
          </a:xfrm>
          <a:prstGeom prst="rect">
            <a:avLst/>
          </a:prstGeom>
        </p:spPr>
      </p:pic>
    </p:spTree>
    <p:extLst>
      <p:ext uri="{BB962C8B-B14F-4D97-AF65-F5344CB8AC3E}">
        <p14:creationId xmlns:p14="http://schemas.microsoft.com/office/powerpoint/2010/main" val="3224464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29CA8-7957-D552-6F9B-8E98430F484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1236489-F04C-74E5-990C-8D8221846472}"/>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C0159E91-28A6-D263-2D35-3A051DD989B2}"/>
              </a:ext>
            </a:extLst>
          </p:cNvPr>
          <p:cNvSpPr txBox="1"/>
          <p:nvPr/>
        </p:nvSpPr>
        <p:spPr>
          <a:xfrm>
            <a:off x="988278" y="1608895"/>
            <a:ext cx="6356619" cy="4673074"/>
          </a:xfrm>
          <a:prstGeom prst="rect">
            <a:avLst/>
          </a:prstGeom>
          <a:noFill/>
        </p:spPr>
        <p:txBody>
          <a:bodyPr wrap="square">
            <a:spAutoFit/>
          </a:bodyPr>
          <a:lstStyle/>
          <a:p>
            <a:pPr algn="l">
              <a:spcBef>
                <a:spcPts val="1050"/>
              </a:spcBef>
              <a:spcAft>
                <a:spcPts val="600"/>
              </a:spcAft>
            </a:pPr>
            <a:r>
              <a:rPr lang="zh-CN" altLang="en-US" sz="2000" b="1" i="0" dirty="0">
                <a:solidFill>
                  <a:srgbClr val="05073B"/>
                </a:solidFill>
                <a:effectLst/>
                <a:latin typeface="-apple-system"/>
              </a:rPr>
              <a:t>主菜单模块</a:t>
            </a:r>
          </a:p>
          <a:p>
            <a:pPr algn="l">
              <a:spcBef>
                <a:spcPts val="1050"/>
              </a:spcBef>
              <a:buFont typeface="Arial" panose="020B0604020202020204" pitchFamily="34" charset="0"/>
              <a:buChar char="•"/>
            </a:pPr>
            <a:r>
              <a:rPr lang="zh-CN" altLang="en-US" sz="2000" b="1" i="0" dirty="0">
                <a:solidFill>
                  <a:srgbClr val="05073B"/>
                </a:solidFill>
                <a:effectLst/>
                <a:latin typeface="-apple-system"/>
              </a:rPr>
              <a:t>功能描述</a:t>
            </a:r>
            <a:r>
              <a:rPr lang="zh-CN" altLang="en-US" sz="2000"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sz="2000" b="0" i="0" dirty="0">
                <a:solidFill>
                  <a:srgbClr val="05073B"/>
                </a:solidFill>
                <a:effectLst/>
                <a:latin typeface="PingFang-SC-Regular"/>
              </a:rPr>
              <a:t>提供开始游戏、游戏帮助和退出游戏选项。</a:t>
            </a:r>
          </a:p>
          <a:p>
            <a:pPr marL="742950" lvl="1" indent="-285750" algn="l">
              <a:spcBef>
                <a:spcPts val="450"/>
              </a:spcBef>
              <a:buFont typeface="Arial" panose="020B0604020202020204" pitchFamily="34" charset="0"/>
              <a:buChar char="•"/>
            </a:pPr>
            <a:r>
              <a:rPr lang="zh-CN" altLang="en-US" sz="2000" b="0" i="0" dirty="0">
                <a:solidFill>
                  <a:srgbClr val="05073B"/>
                </a:solidFill>
                <a:effectLst/>
                <a:latin typeface="PingFang-SC-Regular"/>
              </a:rPr>
              <a:t>查看排行榜功能。</a:t>
            </a:r>
          </a:p>
          <a:p>
            <a:pPr algn="l">
              <a:spcBef>
                <a:spcPts val="450"/>
              </a:spcBef>
              <a:buFont typeface="Arial" panose="020B0604020202020204" pitchFamily="34" charset="0"/>
              <a:buChar char="•"/>
            </a:pPr>
            <a:r>
              <a:rPr lang="zh-CN" altLang="en-US" sz="2000" b="1" i="0" dirty="0">
                <a:solidFill>
                  <a:srgbClr val="05073B"/>
                </a:solidFill>
                <a:effectLst/>
                <a:latin typeface="-apple-system"/>
              </a:rPr>
              <a:t>输入信息</a:t>
            </a:r>
            <a:r>
              <a:rPr lang="zh-CN" altLang="en-US" sz="2000" b="0" i="0" dirty="0">
                <a:solidFill>
                  <a:srgbClr val="05073B"/>
                </a:solidFill>
                <a:effectLst/>
                <a:latin typeface="PingFang-SC-Regular"/>
              </a:rPr>
              <a:t>：按钮点击事件、鼠标事件。</a:t>
            </a:r>
          </a:p>
          <a:p>
            <a:pPr algn="l">
              <a:spcBef>
                <a:spcPts val="450"/>
              </a:spcBef>
              <a:buFont typeface="Arial" panose="020B0604020202020204" pitchFamily="34" charset="0"/>
              <a:buChar char="•"/>
            </a:pPr>
            <a:r>
              <a:rPr lang="zh-CN" altLang="en-US" sz="2000" b="1" i="0" dirty="0">
                <a:solidFill>
                  <a:srgbClr val="05073B"/>
                </a:solidFill>
                <a:effectLst/>
                <a:latin typeface="-apple-system"/>
              </a:rPr>
              <a:t>输出信息</a:t>
            </a:r>
            <a:r>
              <a:rPr lang="zh-CN" altLang="en-US" sz="2000" b="0" i="0" dirty="0">
                <a:solidFill>
                  <a:srgbClr val="05073B"/>
                </a:solidFill>
                <a:effectLst/>
                <a:latin typeface="PingFang-SC-Regular"/>
              </a:rPr>
              <a:t>：舞台、场景、淡入淡出动画、时间线动画。</a:t>
            </a:r>
          </a:p>
          <a:p>
            <a:pPr algn="l">
              <a:spcBef>
                <a:spcPts val="450"/>
              </a:spcBef>
              <a:buFont typeface="Arial" panose="020B0604020202020204" pitchFamily="34" charset="0"/>
              <a:buChar char="•"/>
            </a:pPr>
            <a:r>
              <a:rPr lang="zh-CN" altLang="en-US" sz="2000" b="1" i="0" dirty="0">
                <a:solidFill>
                  <a:srgbClr val="05073B"/>
                </a:solidFill>
                <a:effectLst/>
                <a:latin typeface="-apple-system"/>
              </a:rPr>
              <a:t>算法</a:t>
            </a:r>
            <a:r>
              <a:rPr lang="zh-CN" altLang="en-US" sz="2000" b="0" i="0" dirty="0">
                <a:solidFill>
                  <a:srgbClr val="05073B"/>
                </a:solidFill>
                <a:effectLst/>
                <a:latin typeface="PingFang-SC-Regular"/>
              </a:rPr>
              <a:t>：使用 </a:t>
            </a:r>
            <a:r>
              <a:rPr lang="en-US" altLang="zh-CN" sz="2000" b="0" i="0" dirty="0" err="1">
                <a:solidFill>
                  <a:srgbClr val="05073B"/>
                </a:solidFill>
                <a:effectLst/>
                <a:latin typeface="PingFang-SC-Regular"/>
              </a:rPr>
              <a:t>FadeTransition</a:t>
            </a:r>
            <a:r>
              <a:rPr lang="en-US" altLang="zh-CN" sz="2000" b="0" i="0" dirty="0">
                <a:solidFill>
                  <a:srgbClr val="05073B"/>
                </a:solidFill>
                <a:effectLst/>
                <a:latin typeface="PingFang-SC-Regular"/>
              </a:rPr>
              <a:t> </a:t>
            </a:r>
            <a:r>
              <a:rPr lang="zh-CN" altLang="en-US" sz="2000" b="0" i="0" dirty="0">
                <a:solidFill>
                  <a:srgbClr val="05073B"/>
                </a:solidFill>
                <a:effectLst/>
                <a:latin typeface="PingFang-SC-Regular"/>
              </a:rPr>
              <a:t>和 </a:t>
            </a:r>
            <a:r>
              <a:rPr lang="en-US" altLang="zh-CN" sz="2000" b="0" i="0" dirty="0">
                <a:solidFill>
                  <a:srgbClr val="05073B"/>
                </a:solidFill>
                <a:effectLst/>
                <a:latin typeface="PingFang-SC-Regular"/>
              </a:rPr>
              <a:t>Timeline </a:t>
            </a:r>
            <a:r>
              <a:rPr lang="zh-CN" altLang="en-US" sz="2000" b="0" i="0" dirty="0">
                <a:solidFill>
                  <a:srgbClr val="05073B"/>
                </a:solidFill>
                <a:effectLst/>
                <a:latin typeface="PingFang-SC-Regular"/>
              </a:rPr>
              <a:t>创建动画。</a:t>
            </a:r>
          </a:p>
          <a:p>
            <a:pPr algn="l">
              <a:spcBef>
                <a:spcPts val="450"/>
              </a:spcBef>
              <a:buFont typeface="Arial" panose="020B0604020202020204" pitchFamily="34" charset="0"/>
              <a:buChar char="•"/>
            </a:pPr>
            <a:r>
              <a:rPr lang="zh-CN" altLang="en-US" sz="2000" b="1" i="0" dirty="0">
                <a:solidFill>
                  <a:srgbClr val="05073B"/>
                </a:solidFill>
                <a:effectLst/>
                <a:latin typeface="-apple-system"/>
              </a:rPr>
              <a:t>处理流程</a:t>
            </a:r>
            <a:r>
              <a:rPr lang="zh-CN" altLang="en-US" sz="2000"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sz="2000" b="1" i="0" dirty="0">
                <a:solidFill>
                  <a:srgbClr val="05073B"/>
                </a:solidFill>
                <a:effectLst/>
                <a:latin typeface="-apple-system"/>
              </a:rPr>
              <a:t>类设计</a:t>
            </a:r>
            <a:r>
              <a:rPr lang="zh-CN" altLang="en-US" sz="2000" b="0" i="0" dirty="0">
                <a:solidFill>
                  <a:srgbClr val="05073B"/>
                </a:solidFill>
                <a:effectLst/>
                <a:latin typeface="PingFang-SC-Regular"/>
              </a:rPr>
              <a:t>：包括 </a:t>
            </a:r>
            <a:r>
              <a:rPr lang="en-US" altLang="zh-CN" sz="2000" b="0" i="0" dirty="0">
                <a:solidFill>
                  <a:srgbClr val="05073B"/>
                </a:solidFill>
                <a:effectLst/>
                <a:latin typeface="PingFang-SC-Regular"/>
              </a:rPr>
              <a:t>Main</a:t>
            </a:r>
            <a:r>
              <a:rPr lang="zh-CN" altLang="en-US" sz="2000" b="0" i="0" dirty="0">
                <a:solidFill>
                  <a:srgbClr val="05073B"/>
                </a:solidFill>
                <a:effectLst/>
                <a:latin typeface="PingFang-SC-Regular"/>
              </a:rPr>
              <a:t>、</a:t>
            </a:r>
            <a:r>
              <a:rPr lang="en-US" altLang="zh-CN" sz="2000" b="0" i="0" dirty="0" err="1">
                <a:solidFill>
                  <a:srgbClr val="05073B"/>
                </a:solidFill>
                <a:effectLst/>
                <a:latin typeface="PingFang-SC-Regular"/>
              </a:rPr>
              <a:t>GameStartController</a:t>
            </a:r>
            <a:r>
              <a:rPr lang="en-US" altLang="zh-CN" sz="2000" b="0" i="0" dirty="0">
                <a:solidFill>
                  <a:srgbClr val="05073B"/>
                </a:solidFill>
                <a:effectLst/>
                <a:latin typeface="PingFang-SC-Regular"/>
              </a:rPr>
              <a:t> </a:t>
            </a:r>
            <a:r>
              <a:rPr lang="zh-CN" altLang="en-US" sz="2000"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EF49CB37-B719-ADBA-D76F-BDFFC3558F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44897" y="2455993"/>
            <a:ext cx="4421117" cy="2705409"/>
          </a:xfrm>
          <a:prstGeom prst="rect">
            <a:avLst/>
          </a:prstGeom>
        </p:spPr>
      </p:pic>
    </p:spTree>
    <p:extLst>
      <p:ext uri="{BB962C8B-B14F-4D97-AF65-F5344CB8AC3E}">
        <p14:creationId xmlns:p14="http://schemas.microsoft.com/office/powerpoint/2010/main" val="1988684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2D1DA-B3AA-6C6B-2914-073D5CD09FF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52C7881-384A-F7B6-68ED-AEB3FA86E8C1}"/>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5A5AAF6A-6BA3-604B-E183-B9EA3B5400A5}"/>
              </a:ext>
            </a:extLst>
          </p:cNvPr>
          <p:cNvSpPr txBox="1"/>
          <p:nvPr/>
        </p:nvSpPr>
        <p:spPr>
          <a:xfrm>
            <a:off x="749261" y="1152940"/>
            <a:ext cx="10693478" cy="5227072"/>
          </a:xfrm>
          <a:prstGeom prst="rect">
            <a:avLst/>
          </a:prstGeom>
          <a:noFill/>
        </p:spPr>
        <p:txBody>
          <a:bodyPr wrap="square">
            <a:spAutoFit/>
          </a:bodyPr>
          <a:lstStyle/>
          <a:p>
            <a:pPr algn="l">
              <a:spcBef>
                <a:spcPts val="1050"/>
              </a:spcBef>
              <a:spcAft>
                <a:spcPts val="600"/>
              </a:spcAft>
            </a:pPr>
            <a:r>
              <a:rPr lang="zh-CN" altLang="en-US" sz="2400" b="1" i="0" dirty="0">
                <a:solidFill>
                  <a:srgbClr val="05073B"/>
                </a:solidFill>
                <a:effectLst/>
                <a:latin typeface="-apple-system"/>
              </a:rPr>
              <a:t> 角色选择模块</a:t>
            </a:r>
          </a:p>
          <a:p>
            <a:pPr algn="l">
              <a:spcBef>
                <a:spcPts val="1050"/>
              </a:spcBef>
              <a:buFont typeface="Arial" panose="020B0604020202020204" pitchFamily="34" charset="0"/>
              <a:buChar char="•"/>
            </a:pPr>
            <a:r>
              <a:rPr lang="zh-CN" altLang="en-US" sz="2400" b="1" i="0" dirty="0">
                <a:solidFill>
                  <a:srgbClr val="05073B"/>
                </a:solidFill>
                <a:effectLst/>
                <a:latin typeface="-apple-system"/>
              </a:rPr>
              <a:t>功能描述</a:t>
            </a:r>
            <a:r>
              <a:rPr lang="zh-CN" altLang="en-US" sz="2400"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sz="2400" b="0" i="0" dirty="0">
                <a:solidFill>
                  <a:srgbClr val="05073B"/>
                </a:solidFill>
                <a:effectLst/>
                <a:latin typeface="PingFang-SC-Regular"/>
              </a:rPr>
              <a:t>玩家依次选择两名角色。</a:t>
            </a:r>
          </a:p>
          <a:p>
            <a:pPr marL="742950" lvl="1" indent="-285750" algn="l">
              <a:spcBef>
                <a:spcPts val="450"/>
              </a:spcBef>
              <a:buFont typeface="Arial" panose="020B0604020202020204" pitchFamily="34" charset="0"/>
              <a:buChar char="•"/>
            </a:pPr>
            <a:r>
              <a:rPr lang="zh-CN" altLang="en-US" sz="2400" b="0" i="0" dirty="0">
                <a:solidFill>
                  <a:srgbClr val="05073B"/>
                </a:solidFill>
                <a:effectLst/>
                <a:latin typeface="PingFang-SC-Regular"/>
              </a:rPr>
              <a:t>选择地图后进入战斗。</a:t>
            </a:r>
          </a:p>
          <a:p>
            <a:pPr algn="l">
              <a:spcBef>
                <a:spcPts val="450"/>
              </a:spcBef>
              <a:buFont typeface="Arial" panose="020B0604020202020204" pitchFamily="34" charset="0"/>
              <a:buChar char="•"/>
            </a:pPr>
            <a:r>
              <a:rPr lang="zh-CN" altLang="en-US" sz="2400" b="1" i="0" dirty="0">
                <a:solidFill>
                  <a:srgbClr val="05073B"/>
                </a:solidFill>
                <a:effectLst/>
                <a:latin typeface="-apple-system"/>
              </a:rPr>
              <a:t>输入信息</a:t>
            </a:r>
            <a:r>
              <a:rPr lang="zh-CN" altLang="en-US" sz="2400" b="0" i="0" dirty="0">
                <a:solidFill>
                  <a:srgbClr val="05073B"/>
                </a:solidFill>
                <a:effectLst/>
                <a:latin typeface="PingFang-SC-Regular"/>
              </a:rPr>
              <a:t>：按钮点击事件。</a:t>
            </a:r>
          </a:p>
          <a:p>
            <a:pPr algn="l">
              <a:spcBef>
                <a:spcPts val="450"/>
              </a:spcBef>
              <a:buFont typeface="Arial" panose="020B0604020202020204" pitchFamily="34" charset="0"/>
              <a:buChar char="•"/>
            </a:pPr>
            <a:r>
              <a:rPr lang="zh-CN" altLang="en-US" sz="2400" b="1" i="0" dirty="0">
                <a:solidFill>
                  <a:srgbClr val="05073B"/>
                </a:solidFill>
                <a:effectLst/>
                <a:latin typeface="-apple-system"/>
              </a:rPr>
              <a:t>输出信息</a:t>
            </a:r>
            <a:r>
              <a:rPr lang="zh-CN" altLang="en-US" sz="2400" b="0" i="0" dirty="0">
                <a:solidFill>
                  <a:srgbClr val="05073B"/>
                </a:solidFill>
                <a:effectLst/>
                <a:latin typeface="PingFang-SC-Regular"/>
              </a:rPr>
              <a:t>：角色编号。</a:t>
            </a:r>
          </a:p>
          <a:p>
            <a:pPr algn="l">
              <a:spcBef>
                <a:spcPts val="450"/>
              </a:spcBef>
              <a:buFont typeface="Arial" panose="020B0604020202020204" pitchFamily="34" charset="0"/>
              <a:buChar char="•"/>
            </a:pPr>
            <a:r>
              <a:rPr lang="zh-CN" altLang="en-US" sz="2400" b="1" i="0" dirty="0">
                <a:solidFill>
                  <a:srgbClr val="05073B"/>
                </a:solidFill>
                <a:effectLst/>
                <a:latin typeface="-apple-system"/>
              </a:rPr>
              <a:t>算法</a:t>
            </a:r>
            <a:r>
              <a:rPr lang="zh-CN" altLang="en-US" sz="2400" b="0" i="0" dirty="0">
                <a:solidFill>
                  <a:srgbClr val="05073B"/>
                </a:solidFill>
                <a:effectLst/>
                <a:latin typeface="PingFang-SC-Regular"/>
              </a:rPr>
              <a:t>：无特殊算法，处理流程简单。</a:t>
            </a:r>
          </a:p>
          <a:p>
            <a:pPr algn="l">
              <a:spcBef>
                <a:spcPts val="450"/>
              </a:spcBef>
              <a:buFont typeface="Arial" panose="020B0604020202020204" pitchFamily="34" charset="0"/>
              <a:buChar char="•"/>
            </a:pPr>
            <a:r>
              <a:rPr lang="zh-CN" altLang="en-US" sz="2400" b="1" i="0" dirty="0">
                <a:solidFill>
                  <a:srgbClr val="05073B"/>
                </a:solidFill>
                <a:effectLst/>
                <a:latin typeface="-apple-system"/>
              </a:rPr>
              <a:t>处理流程</a:t>
            </a:r>
            <a:r>
              <a:rPr lang="zh-CN" altLang="en-US" sz="2400"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sz="2400" b="1" i="0" dirty="0">
                <a:solidFill>
                  <a:srgbClr val="05073B"/>
                </a:solidFill>
                <a:effectLst/>
                <a:latin typeface="-apple-system"/>
              </a:rPr>
              <a:t>类设计</a:t>
            </a:r>
            <a:r>
              <a:rPr lang="zh-CN" altLang="en-US" sz="2400" b="0" i="0" dirty="0">
                <a:solidFill>
                  <a:srgbClr val="05073B"/>
                </a:solidFill>
                <a:effectLst/>
                <a:latin typeface="PingFang-SC-Regular"/>
              </a:rPr>
              <a:t>：包括 </a:t>
            </a:r>
            <a:r>
              <a:rPr lang="en-US" altLang="zh-CN" sz="2400" b="0" i="0" dirty="0" err="1">
                <a:solidFill>
                  <a:srgbClr val="05073B"/>
                </a:solidFill>
                <a:effectLst/>
                <a:latin typeface="PingFang-SC-Regular"/>
              </a:rPr>
              <a:t>ChoiceHeroController</a:t>
            </a:r>
            <a:r>
              <a:rPr lang="en-US" altLang="zh-CN" sz="2400" b="0" i="0" dirty="0">
                <a:solidFill>
                  <a:srgbClr val="05073B"/>
                </a:solidFill>
                <a:effectLst/>
                <a:latin typeface="PingFang-SC-Regular"/>
              </a:rPr>
              <a:t> </a:t>
            </a:r>
            <a:r>
              <a:rPr lang="zh-CN" altLang="en-US" sz="2400"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DADFE701-FCEB-20F5-388B-3E6F1C5F5D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5179" y="1851318"/>
            <a:ext cx="5082333" cy="3155363"/>
          </a:xfrm>
          <a:prstGeom prst="rect">
            <a:avLst/>
          </a:prstGeom>
        </p:spPr>
      </p:pic>
    </p:spTree>
    <p:extLst>
      <p:ext uri="{BB962C8B-B14F-4D97-AF65-F5344CB8AC3E}">
        <p14:creationId xmlns:p14="http://schemas.microsoft.com/office/powerpoint/2010/main" val="1246700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4E454-5E1E-639F-A308-EC48528B998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31A7C6A-27D2-1A6A-22A9-1BAB6BA58A88}"/>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2CF62CD1-D26E-6F0C-682D-0AF2D7E0C0A4}"/>
              </a:ext>
            </a:extLst>
          </p:cNvPr>
          <p:cNvSpPr txBox="1"/>
          <p:nvPr/>
        </p:nvSpPr>
        <p:spPr>
          <a:xfrm>
            <a:off x="947452" y="1230058"/>
            <a:ext cx="6180462" cy="5965736"/>
          </a:xfrm>
          <a:prstGeom prst="rect">
            <a:avLst/>
          </a:prstGeom>
          <a:noFill/>
        </p:spPr>
        <p:txBody>
          <a:bodyPr wrap="square">
            <a:spAutoFit/>
          </a:bodyPr>
          <a:lstStyle/>
          <a:p>
            <a:pPr algn="l">
              <a:spcBef>
                <a:spcPts val="1050"/>
              </a:spcBef>
              <a:spcAft>
                <a:spcPts val="600"/>
              </a:spcAft>
            </a:pPr>
            <a:r>
              <a:rPr lang="zh-CN" altLang="en-US" sz="2400" b="1" i="0" dirty="0">
                <a:solidFill>
                  <a:srgbClr val="05073B"/>
                </a:solidFill>
                <a:effectLst/>
                <a:latin typeface="-apple-system"/>
              </a:rPr>
              <a:t> 地图选择模块</a:t>
            </a:r>
          </a:p>
          <a:p>
            <a:pPr algn="l">
              <a:spcBef>
                <a:spcPts val="1050"/>
              </a:spcBef>
              <a:buFont typeface="Arial" panose="020B0604020202020204" pitchFamily="34" charset="0"/>
              <a:buChar char="•"/>
            </a:pPr>
            <a:r>
              <a:rPr lang="zh-CN" altLang="en-US" sz="2400" b="1" i="0" dirty="0">
                <a:solidFill>
                  <a:srgbClr val="05073B"/>
                </a:solidFill>
                <a:effectLst/>
                <a:latin typeface="-apple-system"/>
              </a:rPr>
              <a:t>功能描述</a:t>
            </a:r>
            <a:r>
              <a:rPr lang="zh-CN" altLang="en-US" sz="2400"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sz="2400" b="0" i="0" dirty="0">
                <a:solidFill>
                  <a:srgbClr val="05073B"/>
                </a:solidFill>
                <a:effectLst/>
                <a:latin typeface="PingFang-SC-Regular"/>
              </a:rPr>
              <a:t>玩家选择游戏地图。</a:t>
            </a:r>
          </a:p>
          <a:p>
            <a:pPr marL="742950" lvl="1" indent="-285750" algn="l">
              <a:spcBef>
                <a:spcPts val="450"/>
              </a:spcBef>
              <a:buFont typeface="Arial" panose="020B0604020202020204" pitchFamily="34" charset="0"/>
              <a:buChar char="•"/>
            </a:pPr>
            <a:r>
              <a:rPr lang="zh-CN" altLang="en-US" sz="2400" b="0" i="0" dirty="0">
                <a:solidFill>
                  <a:srgbClr val="05073B"/>
                </a:solidFill>
                <a:effectLst/>
                <a:latin typeface="PingFang-SC-Regular"/>
              </a:rPr>
              <a:t>返回上一界面或进入战斗。</a:t>
            </a:r>
          </a:p>
          <a:p>
            <a:pPr algn="l">
              <a:spcBef>
                <a:spcPts val="450"/>
              </a:spcBef>
              <a:buFont typeface="Arial" panose="020B0604020202020204" pitchFamily="34" charset="0"/>
              <a:buChar char="•"/>
            </a:pPr>
            <a:r>
              <a:rPr lang="zh-CN" altLang="en-US" sz="2400" b="1" i="0" dirty="0">
                <a:solidFill>
                  <a:srgbClr val="05073B"/>
                </a:solidFill>
                <a:effectLst/>
                <a:latin typeface="-apple-system"/>
              </a:rPr>
              <a:t>输入信息</a:t>
            </a:r>
            <a:r>
              <a:rPr lang="zh-CN" altLang="en-US" sz="2400" b="0" i="0" dirty="0">
                <a:solidFill>
                  <a:srgbClr val="05073B"/>
                </a:solidFill>
                <a:effectLst/>
                <a:latin typeface="PingFang-SC-Regular"/>
              </a:rPr>
              <a:t>：按钮点击事件、鼠标事件。</a:t>
            </a:r>
          </a:p>
          <a:p>
            <a:pPr algn="l">
              <a:spcBef>
                <a:spcPts val="450"/>
              </a:spcBef>
              <a:buFont typeface="Arial" panose="020B0604020202020204" pitchFamily="34" charset="0"/>
              <a:buChar char="•"/>
            </a:pPr>
            <a:r>
              <a:rPr lang="zh-CN" altLang="en-US" sz="2400" b="1" i="0" dirty="0">
                <a:solidFill>
                  <a:srgbClr val="05073B"/>
                </a:solidFill>
                <a:effectLst/>
                <a:latin typeface="-apple-system"/>
              </a:rPr>
              <a:t>输出信息</a:t>
            </a:r>
            <a:r>
              <a:rPr lang="zh-CN" altLang="en-US" sz="2400" b="0" i="0" dirty="0">
                <a:solidFill>
                  <a:srgbClr val="05073B"/>
                </a:solidFill>
                <a:effectLst/>
                <a:latin typeface="PingFang-SC-Regular"/>
              </a:rPr>
              <a:t>：场景切换、按钮点击反馈声音。</a:t>
            </a:r>
          </a:p>
          <a:p>
            <a:pPr algn="l">
              <a:spcBef>
                <a:spcPts val="450"/>
              </a:spcBef>
              <a:buFont typeface="Arial" panose="020B0604020202020204" pitchFamily="34" charset="0"/>
              <a:buChar char="•"/>
            </a:pPr>
            <a:r>
              <a:rPr lang="zh-CN" altLang="en-US" sz="2400" b="1" i="0" dirty="0">
                <a:solidFill>
                  <a:srgbClr val="05073B"/>
                </a:solidFill>
                <a:effectLst/>
                <a:latin typeface="-apple-system"/>
              </a:rPr>
              <a:t>算法</a:t>
            </a:r>
            <a:r>
              <a:rPr lang="zh-CN" altLang="en-US" sz="2400" b="0" i="0" dirty="0">
                <a:solidFill>
                  <a:srgbClr val="05073B"/>
                </a:solidFill>
                <a:effectLst/>
                <a:latin typeface="PingFang-SC-Regular"/>
              </a:rPr>
              <a:t>：场景切换算法、按钮点击事件算法、淡入淡出动画算法。</a:t>
            </a:r>
          </a:p>
          <a:p>
            <a:pPr algn="l">
              <a:spcBef>
                <a:spcPts val="450"/>
              </a:spcBef>
              <a:buFont typeface="Arial" panose="020B0604020202020204" pitchFamily="34" charset="0"/>
              <a:buChar char="•"/>
            </a:pPr>
            <a:r>
              <a:rPr lang="zh-CN" altLang="en-US" sz="2400" b="1" i="0" dirty="0">
                <a:solidFill>
                  <a:srgbClr val="05073B"/>
                </a:solidFill>
                <a:effectLst/>
                <a:latin typeface="-apple-system"/>
              </a:rPr>
              <a:t>处理流程</a:t>
            </a:r>
            <a:r>
              <a:rPr lang="zh-CN" altLang="en-US" sz="2400"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sz="2400" b="1" i="0" dirty="0">
                <a:solidFill>
                  <a:srgbClr val="05073B"/>
                </a:solidFill>
                <a:effectLst/>
                <a:latin typeface="-apple-system"/>
              </a:rPr>
              <a:t>类设计</a:t>
            </a:r>
            <a:r>
              <a:rPr lang="zh-CN" altLang="en-US" sz="2400" b="0" i="0" dirty="0">
                <a:solidFill>
                  <a:srgbClr val="05073B"/>
                </a:solidFill>
                <a:effectLst/>
                <a:latin typeface="PingFang-SC-Regular"/>
              </a:rPr>
              <a:t>：包括 </a:t>
            </a:r>
            <a:r>
              <a:rPr lang="en-US" altLang="zh-CN" sz="2400" b="0" i="0" dirty="0" err="1">
                <a:solidFill>
                  <a:srgbClr val="05073B"/>
                </a:solidFill>
                <a:effectLst/>
                <a:latin typeface="PingFang-SC-Regular"/>
              </a:rPr>
              <a:t>GameScene</a:t>
            </a:r>
            <a:r>
              <a:rPr lang="zh-CN" altLang="en-US" sz="2400" b="0" i="0" dirty="0">
                <a:solidFill>
                  <a:srgbClr val="05073B"/>
                </a:solidFill>
                <a:effectLst/>
                <a:latin typeface="PingFang-SC-Regular"/>
              </a:rPr>
              <a:t>、</a:t>
            </a:r>
            <a:r>
              <a:rPr lang="en-US" altLang="zh-CN" sz="2400" b="0" i="0" dirty="0" err="1">
                <a:solidFill>
                  <a:srgbClr val="05073B"/>
                </a:solidFill>
                <a:effectLst/>
                <a:latin typeface="PingFang-SC-Regular"/>
              </a:rPr>
              <a:t>ChoiceMapController</a:t>
            </a:r>
            <a:r>
              <a:rPr lang="en-US" altLang="zh-CN" sz="2400" b="0" i="0" dirty="0">
                <a:solidFill>
                  <a:srgbClr val="05073B"/>
                </a:solidFill>
                <a:effectLst/>
                <a:latin typeface="PingFang-SC-Regular"/>
              </a:rPr>
              <a:t> </a:t>
            </a:r>
            <a:r>
              <a:rPr lang="zh-CN" altLang="en-US" sz="2400"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3" name="图片 2">
            <a:extLst>
              <a:ext uri="{FF2B5EF4-FFF2-40B4-BE49-F238E27FC236}">
                <a16:creationId xmlns:a16="http://schemas.microsoft.com/office/drawing/2014/main" id="{DDF240A4-9465-9617-F542-560AD3AE4E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9778" y="2280888"/>
            <a:ext cx="4483601" cy="2740366"/>
          </a:xfrm>
          <a:prstGeom prst="rect">
            <a:avLst/>
          </a:prstGeom>
        </p:spPr>
      </p:pic>
    </p:spTree>
    <p:extLst>
      <p:ext uri="{BB962C8B-B14F-4D97-AF65-F5344CB8AC3E}">
        <p14:creationId xmlns:p14="http://schemas.microsoft.com/office/powerpoint/2010/main" val="2456362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7E600-FBBA-F8CD-2DF4-53DFF4DB9A7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16DD9D5-B4B1-55BD-D5F1-2751716C58AA}"/>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24E70B37-15C2-9FA4-5887-A3443FC17763}"/>
              </a:ext>
            </a:extLst>
          </p:cNvPr>
          <p:cNvSpPr txBox="1"/>
          <p:nvPr/>
        </p:nvSpPr>
        <p:spPr>
          <a:xfrm>
            <a:off x="915986" y="1275341"/>
            <a:ext cx="5464252" cy="5291192"/>
          </a:xfrm>
          <a:prstGeom prst="rect">
            <a:avLst/>
          </a:prstGeom>
          <a:noFill/>
        </p:spPr>
        <p:txBody>
          <a:bodyPr wrap="square">
            <a:spAutoFit/>
          </a:bodyPr>
          <a:lstStyle/>
          <a:p>
            <a:pPr algn="l">
              <a:spcBef>
                <a:spcPts val="1050"/>
              </a:spcBef>
              <a:spcAft>
                <a:spcPts val="600"/>
              </a:spcAft>
            </a:pPr>
            <a:r>
              <a:rPr lang="zh-CN" altLang="en-US" b="1" i="0" dirty="0">
                <a:solidFill>
                  <a:srgbClr val="05073B"/>
                </a:solidFill>
                <a:effectLst/>
                <a:latin typeface="-apple-system"/>
              </a:rPr>
              <a:t> 战斗模块</a:t>
            </a:r>
          </a:p>
          <a:p>
            <a:pPr algn="l">
              <a:spcBef>
                <a:spcPts val="1050"/>
              </a:spcBef>
              <a:buFont typeface="Arial" panose="020B0604020202020204" pitchFamily="34" charset="0"/>
              <a:buChar char="•"/>
            </a:pPr>
            <a:r>
              <a:rPr lang="zh-CN" altLang="en-US" b="1" i="0" dirty="0">
                <a:solidFill>
                  <a:srgbClr val="05073B"/>
                </a:solidFill>
                <a:effectLst/>
                <a:latin typeface="-apple-system"/>
              </a:rPr>
              <a:t>功能描述</a:t>
            </a:r>
            <a:r>
              <a:rPr lang="zh-CN" altLang="en-US"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b="0" i="0" dirty="0">
                <a:solidFill>
                  <a:srgbClr val="05073B"/>
                </a:solidFill>
                <a:effectLst/>
                <a:latin typeface="PingFang-SC-Regular"/>
              </a:rPr>
              <a:t>物理处理：碰撞检测、移动与动画。</a:t>
            </a:r>
          </a:p>
          <a:p>
            <a:pPr marL="742950" lvl="1" indent="-285750" algn="l">
              <a:spcBef>
                <a:spcPts val="450"/>
              </a:spcBef>
              <a:buFont typeface="Arial" panose="020B0604020202020204" pitchFamily="34" charset="0"/>
              <a:buChar char="•"/>
            </a:pPr>
            <a:r>
              <a:rPr lang="zh-CN" altLang="en-US" b="0" i="0" dirty="0">
                <a:solidFill>
                  <a:srgbClr val="05073B"/>
                </a:solidFill>
                <a:effectLst/>
                <a:latin typeface="PingFang-SC-Regular"/>
              </a:rPr>
              <a:t>战斗逻辑：角色状态管理、技能释放、战斗结果判定。</a:t>
            </a:r>
          </a:p>
          <a:p>
            <a:pPr marL="742950" lvl="1" indent="-285750" algn="l">
              <a:spcBef>
                <a:spcPts val="450"/>
              </a:spcBef>
              <a:buFont typeface="Arial" panose="020B0604020202020204" pitchFamily="34" charset="0"/>
              <a:buChar char="•"/>
            </a:pPr>
            <a:r>
              <a:rPr lang="zh-CN" altLang="en-US" b="0" i="0" dirty="0">
                <a:solidFill>
                  <a:srgbClr val="05073B"/>
                </a:solidFill>
                <a:effectLst/>
                <a:latin typeface="PingFang-SC-Regular"/>
              </a:rPr>
              <a:t>上传成绩：将玩家成绩上传到云端。</a:t>
            </a:r>
          </a:p>
          <a:p>
            <a:pPr algn="l">
              <a:spcBef>
                <a:spcPts val="450"/>
              </a:spcBef>
              <a:buFont typeface="Arial" panose="020B0604020202020204" pitchFamily="34" charset="0"/>
              <a:buChar char="•"/>
            </a:pPr>
            <a:r>
              <a:rPr lang="zh-CN" altLang="en-US" b="1" i="0" dirty="0">
                <a:solidFill>
                  <a:srgbClr val="05073B"/>
                </a:solidFill>
                <a:effectLst/>
                <a:latin typeface="-apple-system"/>
              </a:rPr>
              <a:t>输入信息</a:t>
            </a:r>
            <a:r>
              <a:rPr lang="zh-CN" altLang="en-US" b="0" i="0" dirty="0">
                <a:solidFill>
                  <a:srgbClr val="05073B"/>
                </a:solidFill>
                <a:effectLst/>
                <a:latin typeface="PingFang-SC-Regular"/>
              </a:rPr>
              <a:t>：地图编号、模式选择、玩家选角等。</a:t>
            </a:r>
          </a:p>
          <a:p>
            <a:pPr algn="l">
              <a:spcBef>
                <a:spcPts val="450"/>
              </a:spcBef>
              <a:buFont typeface="Arial" panose="020B0604020202020204" pitchFamily="34" charset="0"/>
              <a:buChar char="•"/>
            </a:pPr>
            <a:r>
              <a:rPr lang="zh-CN" altLang="en-US" b="1" i="0" dirty="0">
                <a:solidFill>
                  <a:srgbClr val="05073B"/>
                </a:solidFill>
                <a:effectLst/>
                <a:latin typeface="-apple-system"/>
              </a:rPr>
              <a:t>输出信息</a:t>
            </a:r>
            <a:r>
              <a:rPr lang="zh-CN" altLang="en-US" b="0" i="0" dirty="0">
                <a:solidFill>
                  <a:srgbClr val="05073B"/>
                </a:solidFill>
                <a:effectLst/>
                <a:latin typeface="PingFang-SC-Regular"/>
              </a:rPr>
              <a:t>：战斗场景。</a:t>
            </a:r>
          </a:p>
          <a:p>
            <a:pPr algn="l">
              <a:spcBef>
                <a:spcPts val="450"/>
              </a:spcBef>
              <a:buFont typeface="Arial" panose="020B0604020202020204" pitchFamily="34" charset="0"/>
              <a:buChar char="•"/>
            </a:pPr>
            <a:r>
              <a:rPr lang="zh-CN" altLang="en-US" b="1" i="0" dirty="0">
                <a:solidFill>
                  <a:srgbClr val="05073B"/>
                </a:solidFill>
                <a:effectLst/>
                <a:latin typeface="-apple-system"/>
              </a:rPr>
              <a:t>算法</a:t>
            </a:r>
            <a:r>
              <a:rPr lang="zh-CN" altLang="en-US" b="0" i="0" dirty="0">
                <a:solidFill>
                  <a:srgbClr val="05073B"/>
                </a:solidFill>
                <a:effectLst/>
                <a:latin typeface="PingFang-SC-Regular"/>
              </a:rPr>
              <a:t>：碰撞检测算法、物理系统算法。</a:t>
            </a:r>
          </a:p>
          <a:p>
            <a:pPr algn="l">
              <a:spcBef>
                <a:spcPts val="450"/>
              </a:spcBef>
              <a:buFont typeface="Arial" panose="020B0604020202020204" pitchFamily="34" charset="0"/>
              <a:buChar char="•"/>
            </a:pPr>
            <a:r>
              <a:rPr lang="zh-CN" altLang="en-US" b="1" i="0" dirty="0">
                <a:solidFill>
                  <a:srgbClr val="05073B"/>
                </a:solidFill>
                <a:effectLst/>
                <a:latin typeface="-apple-system"/>
              </a:rPr>
              <a:t>处理流程</a:t>
            </a:r>
            <a:r>
              <a:rPr lang="zh-CN" altLang="en-US"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b="1" i="0" dirty="0">
                <a:solidFill>
                  <a:srgbClr val="05073B"/>
                </a:solidFill>
                <a:effectLst/>
                <a:latin typeface="-apple-system"/>
              </a:rPr>
              <a:t>类设计</a:t>
            </a:r>
            <a:r>
              <a:rPr lang="zh-CN" altLang="en-US" b="0" i="0" dirty="0">
                <a:solidFill>
                  <a:srgbClr val="05073B"/>
                </a:solidFill>
                <a:effectLst/>
                <a:latin typeface="PingFang-SC-Regular"/>
              </a:rPr>
              <a:t>：包括 </a:t>
            </a:r>
            <a:r>
              <a:rPr lang="en-US" altLang="zh-CN" b="0" i="0" dirty="0">
                <a:solidFill>
                  <a:srgbClr val="05073B"/>
                </a:solidFill>
                <a:effectLst/>
                <a:latin typeface="PingFang-SC-Regular"/>
              </a:rPr>
              <a:t>Sprite</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Role</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Person</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Bullet</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SampleParticle</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GameScene</a:t>
            </a:r>
            <a:r>
              <a:rPr lang="en-US" altLang="zh-CN" b="0" i="0" dirty="0">
                <a:solidFill>
                  <a:srgbClr val="05073B"/>
                </a:solidFill>
                <a:effectLst/>
                <a:latin typeface="PingFang-SC-Regular"/>
              </a:rPr>
              <a:t> </a:t>
            </a:r>
            <a:r>
              <a:rPr lang="zh-CN" altLang="en-US"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7" name="图片 6">
            <a:extLst>
              <a:ext uri="{FF2B5EF4-FFF2-40B4-BE49-F238E27FC236}">
                <a16:creationId xmlns:a16="http://schemas.microsoft.com/office/drawing/2014/main" id="{F6CED293-C64B-168F-D773-A5F568C5EF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40688" y="2231392"/>
            <a:ext cx="4630059" cy="2839039"/>
          </a:xfrm>
          <a:prstGeom prst="rect">
            <a:avLst/>
          </a:prstGeom>
        </p:spPr>
      </p:pic>
    </p:spTree>
    <p:extLst>
      <p:ext uri="{BB962C8B-B14F-4D97-AF65-F5344CB8AC3E}">
        <p14:creationId xmlns:p14="http://schemas.microsoft.com/office/powerpoint/2010/main" val="1205491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792FF-6BCE-D8CE-0285-66EFB9DF4B8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211069B-3FF9-F19A-05E3-90F76D2FB8BF}"/>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C01595B3-5F6F-F33A-5728-14385C2DB187}"/>
              </a:ext>
            </a:extLst>
          </p:cNvPr>
          <p:cNvSpPr txBox="1"/>
          <p:nvPr/>
        </p:nvSpPr>
        <p:spPr>
          <a:xfrm>
            <a:off x="749261" y="1421963"/>
            <a:ext cx="10693478" cy="4737194"/>
          </a:xfrm>
          <a:prstGeom prst="rect">
            <a:avLst/>
          </a:prstGeom>
          <a:noFill/>
        </p:spPr>
        <p:txBody>
          <a:bodyPr wrap="square">
            <a:spAutoFit/>
          </a:bodyPr>
          <a:lstStyle/>
          <a:p>
            <a:pPr algn="l">
              <a:spcBef>
                <a:spcPts val="1050"/>
              </a:spcBef>
              <a:spcAft>
                <a:spcPts val="600"/>
              </a:spcAft>
            </a:pPr>
            <a:r>
              <a:rPr lang="zh-CN" altLang="en-US" b="1" i="0" dirty="0">
                <a:solidFill>
                  <a:srgbClr val="05073B"/>
                </a:solidFill>
                <a:effectLst/>
                <a:latin typeface="-apple-system"/>
              </a:rPr>
              <a:t> 排行榜模块</a:t>
            </a:r>
          </a:p>
          <a:p>
            <a:pPr algn="l">
              <a:spcBef>
                <a:spcPts val="1050"/>
              </a:spcBef>
              <a:buFont typeface="Arial" panose="020B0604020202020204" pitchFamily="34" charset="0"/>
              <a:buChar char="•"/>
            </a:pPr>
            <a:r>
              <a:rPr lang="zh-CN" altLang="en-US" b="1" i="0" dirty="0">
                <a:solidFill>
                  <a:srgbClr val="05073B"/>
                </a:solidFill>
                <a:effectLst/>
                <a:latin typeface="-apple-system"/>
              </a:rPr>
              <a:t>功能描述</a:t>
            </a:r>
            <a:r>
              <a:rPr lang="zh-CN" altLang="en-US"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b="0" i="0" dirty="0">
                <a:solidFill>
                  <a:srgbClr val="05073B"/>
                </a:solidFill>
                <a:effectLst/>
                <a:latin typeface="PingFang-SC-Regular"/>
              </a:rPr>
              <a:t>从云端获取数据。</a:t>
            </a:r>
          </a:p>
          <a:p>
            <a:pPr marL="742950" lvl="1" indent="-285750" algn="l">
              <a:spcBef>
                <a:spcPts val="450"/>
              </a:spcBef>
              <a:buFont typeface="Arial" panose="020B0604020202020204" pitchFamily="34" charset="0"/>
              <a:buChar char="•"/>
            </a:pPr>
            <a:r>
              <a:rPr lang="zh-CN" altLang="en-US" b="0" i="0" dirty="0">
                <a:solidFill>
                  <a:srgbClr val="05073B"/>
                </a:solidFill>
                <a:effectLst/>
                <a:latin typeface="PingFang-SC-Regular"/>
              </a:rPr>
              <a:t>显示排行榜。</a:t>
            </a:r>
          </a:p>
          <a:p>
            <a:pPr marL="742950" lvl="1" indent="-285750" algn="l">
              <a:spcBef>
                <a:spcPts val="450"/>
              </a:spcBef>
              <a:buFont typeface="Arial" panose="020B0604020202020204" pitchFamily="34" charset="0"/>
              <a:buChar char="•"/>
            </a:pPr>
            <a:r>
              <a:rPr lang="zh-CN" altLang="en-US" b="0" i="0" dirty="0">
                <a:solidFill>
                  <a:srgbClr val="05073B"/>
                </a:solidFill>
                <a:effectLst/>
                <a:latin typeface="PingFang-SC-Regular"/>
              </a:rPr>
              <a:t>数据更新与维护。</a:t>
            </a:r>
          </a:p>
          <a:p>
            <a:pPr algn="l">
              <a:spcBef>
                <a:spcPts val="450"/>
              </a:spcBef>
              <a:buFont typeface="Arial" panose="020B0604020202020204" pitchFamily="34" charset="0"/>
              <a:buChar char="•"/>
            </a:pPr>
            <a:r>
              <a:rPr lang="zh-CN" altLang="en-US" b="1" i="0" dirty="0">
                <a:solidFill>
                  <a:srgbClr val="05073B"/>
                </a:solidFill>
                <a:effectLst/>
                <a:latin typeface="-apple-system"/>
              </a:rPr>
              <a:t>输入信息</a:t>
            </a:r>
            <a:r>
              <a:rPr lang="zh-CN" altLang="en-US" b="0" i="0" dirty="0">
                <a:solidFill>
                  <a:srgbClr val="05073B"/>
                </a:solidFill>
                <a:effectLst/>
                <a:latin typeface="PingFang-SC-Regular"/>
              </a:rPr>
              <a:t>：用户请求、云端数据。</a:t>
            </a:r>
          </a:p>
          <a:p>
            <a:pPr algn="l">
              <a:spcBef>
                <a:spcPts val="450"/>
              </a:spcBef>
              <a:buFont typeface="Arial" panose="020B0604020202020204" pitchFamily="34" charset="0"/>
              <a:buChar char="•"/>
            </a:pPr>
            <a:r>
              <a:rPr lang="zh-CN" altLang="en-US" b="1" i="0" dirty="0">
                <a:solidFill>
                  <a:srgbClr val="05073B"/>
                </a:solidFill>
                <a:effectLst/>
                <a:latin typeface="-apple-system"/>
              </a:rPr>
              <a:t>输出信息</a:t>
            </a:r>
            <a:r>
              <a:rPr lang="zh-CN" altLang="en-US" b="0" i="0" dirty="0">
                <a:solidFill>
                  <a:srgbClr val="05073B"/>
                </a:solidFill>
                <a:effectLst/>
                <a:latin typeface="PingFang-SC-Regular"/>
              </a:rPr>
              <a:t>：排行榜显示。</a:t>
            </a:r>
          </a:p>
          <a:p>
            <a:pPr algn="l">
              <a:spcBef>
                <a:spcPts val="450"/>
              </a:spcBef>
              <a:buFont typeface="Arial" panose="020B0604020202020204" pitchFamily="34" charset="0"/>
              <a:buChar char="•"/>
            </a:pPr>
            <a:r>
              <a:rPr lang="zh-CN" altLang="en-US" b="1" i="0" dirty="0">
                <a:solidFill>
                  <a:srgbClr val="05073B"/>
                </a:solidFill>
                <a:effectLst/>
                <a:latin typeface="-apple-system"/>
              </a:rPr>
              <a:t>算法</a:t>
            </a:r>
            <a:r>
              <a:rPr lang="zh-CN" altLang="en-US" b="0" i="0" dirty="0">
                <a:solidFill>
                  <a:srgbClr val="05073B"/>
                </a:solidFill>
                <a:effectLst/>
                <a:latin typeface="PingFang-SC-Regular"/>
              </a:rPr>
              <a:t>：无特殊算法，处理流程简单。</a:t>
            </a:r>
          </a:p>
          <a:p>
            <a:pPr algn="l">
              <a:spcBef>
                <a:spcPts val="450"/>
              </a:spcBef>
              <a:buFont typeface="Arial" panose="020B0604020202020204" pitchFamily="34" charset="0"/>
              <a:buChar char="•"/>
            </a:pPr>
            <a:r>
              <a:rPr lang="zh-CN" altLang="en-US" b="1" i="0" dirty="0">
                <a:solidFill>
                  <a:srgbClr val="05073B"/>
                </a:solidFill>
                <a:effectLst/>
                <a:latin typeface="-apple-system"/>
              </a:rPr>
              <a:t>处理流程</a:t>
            </a:r>
            <a:r>
              <a:rPr lang="zh-CN" altLang="en-US"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b="1" i="0" dirty="0">
                <a:solidFill>
                  <a:srgbClr val="05073B"/>
                </a:solidFill>
                <a:effectLst/>
                <a:latin typeface="-apple-system"/>
              </a:rPr>
              <a:t>类设计</a:t>
            </a:r>
            <a:r>
              <a:rPr lang="zh-CN" altLang="en-US" b="0" i="0" dirty="0">
                <a:solidFill>
                  <a:srgbClr val="05073B"/>
                </a:solidFill>
                <a:effectLst/>
                <a:latin typeface="PingFang-SC-Regular"/>
              </a:rPr>
              <a:t>：包括 </a:t>
            </a:r>
            <a:r>
              <a:rPr lang="en-US" altLang="zh-CN" b="0" i="0" dirty="0" err="1">
                <a:solidFill>
                  <a:srgbClr val="05073B"/>
                </a:solidFill>
                <a:effectLst/>
                <a:latin typeface="PingFang-SC-Regular"/>
              </a:rPr>
              <a:t>RankController</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DataBaseConnection</a:t>
            </a:r>
            <a:r>
              <a:rPr lang="en-US" altLang="zh-CN" b="0" i="0" dirty="0">
                <a:solidFill>
                  <a:srgbClr val="05073B"/>
                </a:solidFill>
                <a:effectLst/>
                <a:latin typeface="PingFang-SC-Regular"/>
              </a:rPr>
              <a:t> </a:t>
            </a:r>
            <a:r>
              <a:rPr lang="zh-CN" altLang="en-US"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346EC42D-62E7-D605-E784-9CDC194C0F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0682" y="2034261"/>
            <a:ext cx="5003580" cy="3116095"/>
          </a:xfrm>
          <a:prstGeom prst="rect">
            <a:avLst/>
          </a:prstGeom>
        </p:spPr>
      </p:pic>
    </p:spTree>
    <p:extLst>
      <p:ext uri="{BB962C8B-B14F-4D97-AF65-F5344CB8AC3E}">
        <p14:creationId xmlns:p14="http://schemas.microsoft.com/office/powerpoint/2010/main" val="3995131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AF3E2-893F-7416-3789-143DD9ACA5C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930C0E6-1FD6-367A-A366-F0C9CE8E4C61}"/>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B92C3E60-5DC8-CABD-596D-188F1C4A99BA}"/>
              </a:ext>
            </a:extLst>
          </p:cNvPr>
          <p:cNvSpPr txBox="1"/>
          <p:nvPr/>
        </p:nvSpPr>
        <p:spPr>
          <a:xfrm>
            <a:off x="715644" y="1387939"/>
            <a:ext cx="5651539" cy="4885953"/>
          </a:xfrm>
          <a:prstGeom prst="rect">
            <a:avLst/>
          </a:prstGeom>
          <a:noFill/>
        </p:spPr>
        <p:txBody>
          <a:bodyPr wrap="square">
            <a:spAutoFit/>
          </a:bodyPr>
          <a:lstStyle/>
          <a:p>
            <a:pPr algn="l">
              <a:spcBef>
                <a:spcPts val="1050"/>
              </a:spcBef>
              <a:spcAft>
                <a:spcPts val="600"/>
              </a:spcAft>
            </a:pPr>
            <a:r>
              <a:rPr lang="en-US" altLang="zh-CN" b="1" i="0" dirty="0">
                <a:solidFill>
                  <a:srgbClr val="05073B"/>
                </a:solidFill>
                <a:effectLst/>
                <a:latin typeface="-apple-system"/>
              </a:rPr>
              <a:t>Bot</a:t>
            </a:r>
            <a:r>
              <a:rPr lang="zh-CN" altLang="en-US" b="1" i="0" dirty="0">
                <a:solidFill>
                  <a:srgbClr val="05073B"/>
                </a:solidFill>
                <a:effectLst/>
                <a:latin typeface="-apple-system"/>
              </a:rPr>
              <a:t>模块</a:t>
            </a:r>
          </a:p>
          <a:p>
            <a:pPr algn="l">
              <a:spcBef>
                <a:spcPts val="1050"/>
              </a:spcBef>
              <a:buFont typeface="Arial" panose="020B0604020202020204" pitchFamily="34" charset="0"/>
              <a:buChar char="•"/>
            </a:pPr>
            <a:r>
              <a:rPr lang="zh-CN" altLang="en-US" b="1" i="0" dirty="0">
                <a:solidFill>
                  <a:srgbClr val="05073B"/>
                </a:solidFill>
                <a:effectLst/>
                <a:latin typeface="-apple-system"/>
              </a:rPr>
              <a:t>功能描述</a:t>
            </a:r>
            <a:r>
              <a:rPr lang="zh-CN" altLang="en-US"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en-US" altLang="zh-CN" b="0" i="0" dirty="0">
                <a:solidFill>
                  <a:srgbClr val="05073B"/>
                </a:solidFill>
                <a:effectLst/>
                <a:latin typeface="PingFang-SC-Regular"/>
              </a:rPr>
              <a:t>Bot </a:t>
            </a:r>
            <a:r>
              <a:rPr lang="zh-CN" altLang="en-US" b="0" i="0" dirty="0">
                <a:solidFill>
                  <a:srgbClr val="05073B"/>
                </a:solidFill>
                <a:effectLst/>
                <a:latin typeface="PingFang-SC-Regular"/>
              </a:rPr>
              <a:t>的定义、添加、移动、寻路、攻击、召唤技能、路径绘制。</a:t>
            </a:r>
          </a:p>
          <a:p>
            <a:pPr algn="l">
              <a:spcBef>
                <a:spcPts val="450"/>
              </a:spcBef>
              <a:buFont typeface="Arial" panose="020B0604020202020204" pitchFamily="34" charset="0"/>
              <a:buChar char="•"/>
            </a:pPr>
            <a:r>
              <a:rPr lang="zh-CN" altLang="en-US" b="1" i="0" dirty="0">
                <a:solidFill>
                  <a:srgbClr val="05073B"/>
                </a:solidFill>
                <a:effectLst/>
                <a:latin typeface="-apple-system"/>
              </a:rPr>
              <a:t>输入信息</a:t>
            </a:r>
            <a:r>
              <a:rPr lang="zh-CN" altLang="en-US" b="0" i="0" dirty="0">
                <a:solidFill>
                  <a:srgbClr val="05073B"/>
                </a:solidFill>
                <a:effectLst/>
                <a:latin typeface="PingFang-SC-Regular"/>
              </a:rPr>
              <a:t>：模型、移动速度、攻击目标等。</a:t>
            </a:r>
          </a:p>
          <a:p>
            <a:pPr algn="l">
              <a:spcBef>
                <a:spcPts val="450"/>
              </a:spcBef>
              <a:buFont typeface="Arial" panose="020B0604020202020204" pitchFamily="34" charset="0"/>
              <a:buChar char="•"/>
            </a:pPr>
            <a:r>
              <a:rPr lang="zh-CN" altLang="en-US" b="1" i="0" dirty="0">
                <a:solidFill>
                  <a:srgbClr val="05073B"/>
                </a:solidFill>
                <a:effectLst/>
                <a:latin typeface="-apple-system"/>
              </a:rPr>
              <a:t>输出信息</a:t>
            </a:r>
            <a:r>
              <a:rPr lang="zh-CN" altLang="en-US" b="0" i="0" dirty="0">
                <a:solidFill>
                  <a:srgbClr val="05073B"/>
                </a:solidFill>
                <a:effectLst/>
                <a:latin typeface="PingFang-SC-Regular"/>
              </a:rPr>
              <a:t>：当前状态、造成的伤害值等。</a:t>
            </a:r>
          </a:p>
          <a:p>
            <a:pPr algn="l">
              <a:spcBef>
                <a:spcPts val="450"/>
              </a:spcBef>
              <a:buFont typeface="Arial" panose="020B0604020202020204" pitchFamily="34" charset="0"/>
              <a:buChar char="•"/>
            </a:pPr>
            <a:r>
              <a:rPr lang="zh-CN" altLang="en-US" b="1" i="0" dirty="0">
                <a:solidFill>
                  <a:srgbClr val="05073B"/>
                </a:solidFill>
                <a:effectLst/>
                <a:latin typeface="-apple-system"/>
              </a:rPr>
              <a:t>算法</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Dijkstra </a:t>
            </a:r>
            <a:r>
              <a:rPr lang="zh-CN" altLang="en-US" b="0" i="0" dirty="0">
                <a:solidFill>
                  <a:srgbClr val="05073B"/>
                </a:solidFill>
                <a:effectLst/>
                <a:latin typeface="PingFang-SC-Regular"/>
              </a:rPr>
              <a:t>寻路算法。</a:t>
            </a:r>
          </a:p>
          <a:p>
            <a:pPr algn="l">
              <a:spcBef>
                <a:spcPts val="450"/>
              </a:spcBef>
              <a:buFont typeface="Arial" panose="020B0604020202020204" pitchFamily="34" charset="0"/>
              <a:buChar char="•"/>
            </a:pPr>
            <a:r>
              <a:rPr lang="zh-CN" altLang="en-US" b="1" i="0" dirty="0">
                <a:solidFill>
                  <a:srgbClr val="05073B"/>
                </a:solidFill>
                <a:effectLst/>
                <a:latin typeface="-apple-system"/>
              </a:rPr>
              <a:t>处理流程</a:t>
            </a:r>
            <a:r>
              <a:rPr lang="zh-CN" altLang="en-US"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b="1" i="0" dirty="0">
                <a:solidFill>
                  <a:srgbClr val="05073B"/>
                </a:solidFill>
                <a:effectLst/>
                <a:latin typeface="-apple-system"/>
              </a:rPr>
              <a:t>类设计</a:t>
            </a:r>
            <a:r>
              <a:rPr lang="zh-CN" altLang="en-US" b="0" i="0" dirty="0">
                <a:solidFill>
                  <a:srgbClr val="05073B"/>
                </a:solidFill>
                <a:effectLst/>
                <a:latin typeface="PingFang-SC-Regular"/>
              </a:rPr>
              <a:t>：包括 </a:t>
            </a:r>
            <a:r>
              <a:rPr lang="en-US" altLang="zh-CN" b="0" i="0" dirty="0">
                <a:solidFill>
                  <a:srgbClr val="05073B"/>
                </a:solidFill>
                <a:effectLst/>
                <a:latin typeface="PingFang-SC-Regular"/>
              </a:rPr>
              <a:t>Bot</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Botadd</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BotPunch</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BotShootingStar</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BotStarExplosion</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Dijkstra</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Movement</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PaintSignInMap</a:t>
            </a:r>
            <a:r>
              <a:rPr lang="en-US" altLang="zh-CN" b="0" i="0" dirty="0">
                <a:solidFill>
                  <a:srgbClr val="05073B"/>
                </a:solidFill>
                <a:effectLst/>
                <a:latin typeface="PingFang-SC-Regular"/>
              </a:rPr>
              <a:t> </a:t>
            </a:r>
            <a:r>
              <a:rPr lang="zh-CN" altLang="en-US"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4366B21F-8813-A0B6-BA25-97C1FDC95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0390" y="2055294"/>
            <a:ext cx="5285163" cy="3255483"/>
          </a:xfrm>
          <a:prstGeom prst="rect">
            <a:avLst/>
          </a:prstGeom>
        </p:spPr>
      </p:pic>
    </p:spTree>
    <p:extLst>
      <p:ext uri="{BB962C8B-B14F-4D97-AF65-F5344CB8AC3E}">
        <p14:creationId xmlns:p14="http://schemas.microsoft.com/office/powerpoint/2010/main" val="362803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6C6A0-050F-E27C-C309-0BDD7722FBB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23D7192-58B0-0CBF-DCF2-7898624FEA3A}"/>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B3BF2699-89AB-D0C3-CC81-43762D746155}"/>
              </a:ext>
            </a:extLst>
          </p:cNvPr>
          <p:cNvSpPr txBox="1"/>
          <p:nvPr/>
        </p:nvSpPr>
        <p:spPr>
          <a:xfrm>
            <a:off x="793895" y="1539433"/>
            <a:ext cx="5993062" cy="4396075"/>
          </a:xfrm>
          <a:prstGeom prst="rect">
            <a:avLst/>
          </a:prstGeom>
          <a:noFill/>
        </p:spPr>
        <p:txBody>
          <a:bodyPr wrap="square">
            <a:spAutoFit/>
          </a:bodyPr>
          <a:lstStyle/>
          <a:p>
            <a:pPr algn="l">
              <a:spcBef>
                <a:spcPts val="1050"/>
              </a:spcBef>
              <a:spcAft>
                <a:spcPts val="600"/>
              </a:spcAft>
            </a:pPr>
            <a:r>
              <a:rPr lang="zh-CN" altLang="en-US" b="1" i="0" dirty="0">
                <a:solidFill>
                  <a:srgbClr val="05073B"/>
                </a:solidFill>
                <a:effectLst/>
                <a:latin typeface="-apple-system"/>
              </a:rPr>
              <a:t>帮助模块</a:t>
            </a:r>
          </a:p>
          <a:p>
            <a:pPr algn="l">
              <a:spcBef>
                <a:spcPts val="1050"/>
              </a:spcBef>
              <a:buFont typeface="Arial" panose="020B0604020202020204" pitchFamily="34" charset="0"/>
              <a:buChar char="•"/>
            </a:pPr>
            <a:r>
              <a:rPr lang="zh-CN" altLang="en-US" b="1" i="0" dirty="0">
                <a:solidFill>
                  <a:srgbClr val="05073B"/>
                </a:solidFill>
                <a:effectLst/>
                <a:latin typeface="-apple-system"/>
              </a:rPr>
              <a:t>功能描述</a:t>
            </a:r>
            <a:r>
              <a:rPr lang="zh-CN" altLang="en-US" b="0" i="0" dirty="0">
                <a:solidFill>
                  <a:srgbClr val="05073B"/>
                </a:solidFill>
                <a:effectLst/>
                <a:latin typeface="PingFang-SC-Regular"/>
              </a:rPr>
              <a:t>：</a:t>
            </a:r>
          </a:p>
          <a:p>
            <a:pPr marL="742950" lvl="1" indent="-285750" algn="l">
              <a:spcBef>
                <a:spcPts val="1050"/>
              </a:spcBef>
              <a:buFont typeface="Arial" panose="020B0604020202020204" pitchFamily="34" charset="0"/>
              <a:buChar char="•"/>
            </a:pPr>
            <a:r>
              <a:rPr lang="zh-CN" altLang="en-US" b="0" i="0" dirty="0">
                <a:solidFill>
                  <a:srgbClr val="05073B"/>
                </a:solidFill>
                <a:effectLst/>
                <a:latin typeface="PingFang-SC-Regular"/>
              </a:rPr>
              <a:t>提供对话界面，调用 </a:t>
            </a:r>
            <a:r>
              <a:rPr lang="en-US" altLang="zh-CN" b="0" i="0" dirty="0" err="1">
                <a:solidFill>
                  <a:srgbClr val="05073B"/>
                </a:solidFill>
                <a:effectLst/>
                <a:latin typeface="PingFang-SC-Regular"/>
              </a:rPr>
              <a:t>Coze</a:t>
            </a:r>
            <a:r>
              <a:rPr lang="en-US" altLang="zh-CN" b="0" i="0" dirty="0">
                <a:solidFill>
                  <a:srgbClr val="05073B"/>
                </a:solidFill>
                <a:effectLst/>
                <a:latin typeface="PingFang-SC-Regular"/>
              </a:rPr>
              <a:t> API </a:t>
            </a:r>
            <a:r>
              <a:rPr lang="zh-CN" altLang="en-US" b="0" i="0" dirty="0">
                <a:solidFill>
                  <a:srgbClr val="05073B"/>
                </a:solidFill>
                <a:effectLst/>
                <a:latin typeface="PingFang-SC-Regular"/>
              </a:rPr>
              <a:t>回答游戏相关问题。</a:t>
            </a:r>
          </a:p>
          <a:p>
            <a:pPr marL="742950" lvl="1" indent="-285750" algn="l">
              <a:spcBef>
                <a:spcPts val="450"/>
              </a:spcBef>
              <a:buFont typeface="Arial" panose="020B0604020202020204" pitchFamily="34" charset="0"/>
              <a:buChar char="•"/>
            </a:pPr>
            <a:r>
              <a:rPr lang="zh-CN" altLang="en-US" b="0" i="0" dirty="0">
                <a:solidFill>
                  <a:srgbClr val="05073B"/>
                </a:solidFill>
                <a:effectLst/>
                <a:latin typeface="PingFang-SC-Regular"/>
              </a:rPr>
              <a:t>显示帮助页面。</a:t>
            </a:r>
          </a:p>
          <a:p>
            <a:pPr algn="l">
              <a:spcBef>
                <a:spcPts val="450"/>
              </a:spcBef>
              <a:buFont typeface="Arial" panose="020B0604020202020204" pitchFamily="34" charset="0"/>
              <a:buChar char="•"/>
            </a:pPr>
            <a:r>
              <a:rPr lang="zh-CN" altLang="en-US" b="1" i="0" dirty="0">
                <a:solidFill>
                  <a:srgbClr val="05073B"/>
                </a:solidFill>
                <a:effectLst/>
                <a:latin typeface="-apple-system"/>
              </a:rPr>
              <a:t>输入信息</a:t>
            </a:r>
            <a:r>
              <a:rPr lang="zh-CN" altLang="en-US" b="0" i="0" dirty="0">
                <a:solidFill>
                  <a:srgbClr val="05073B"/>
                </a:solidFill>
                <a:effectLst/>
                <a:latin typeface="PingFang-SC-Regular"/>
              </a:rPr>
              <a:t>：玩家输入内容。</a:t>
            </a:r>
          </a:p>
          <a:p>
            <a:pPr algn="l">
              <a:spcBef>
                <a:spcPts val="450"/>
              </a:spcBef>
              <a:buFont typeface="Arial" panose="020B0604020202020204" pitchFamily="34" charset="0"/>
              <a:buChar char="•"/>
            </a:pPr>
            <a:r>
              <a:rPr lang="zh-CN" altLang="en-US" b="1" i="0" dirty="0">
                <a:solidFill>
                  <a:srgbClr val="05073B"/>
                </a:solidFill>
                <a:effectLst/>
                <a:latin typeface="-apple-system"/>
              </a:rPr>
              <a:t>输出信息</a:t>
            </a:r>
            <a:r>
              <a:rPr lang="zh-CN" altLang="en-US" b="0" i="0" dirty="0">
                <a:solidFill>
                  <a:srgbClr val="05073B"/>
                </a:solidFill>
                <a:effectLst/>
                <a:latin typeface="PingFang-SC-Regular"/>
              </a:rPr>
              <a:t>：</a:t>
            </a:r>
            <a:r>
              <a:rPr lang="en-US" altLang="zh-CN" b="0" i="0" dirty="0">
                <a:solidFill>
                  <a:srgbClr val="05073B"/>
                </a:solidFill>
                <a:effectLst/>
                <a:latin typeface="PingFang-SC-Regular"/>
              </a:rPr>
              <a:t>Bot </a:t>
            </a:r>
            <a:r>
              <a:rPr lang="zh-CN" altLang="en-US" b="0" i="0" dirty="0">
                <a:solidFill>
                  <a:srgbClr val="05073B"/>
                </a:solidFill>
                <a:effectLst/>
                <a:latin typeface="PingFang-SC-Regular"/>
              </a:rPr>
              <a:t>回复内容。</a:t>
            </a:r>
          </a:p>
          <a:p>
            <a:pPr algn="l">
              <a:spcBef>
                <a:spcPts val="450"/>
              </a:spcBef>
              <a:buFont typeface="Arial" panose="020B0604020202020204" pitchFamily="34" charset="0"/>
              <a:buChar char="•"/>
            </a:pPr>
            <a:r>
              <a:rPr lang="zh-CN" altLang="en-US" b="1" i="0" dirty="0">
                <a:solidFill>
                  <a:srgbClr val="05073B"/>
                </a:solidFill>
                <a:effectLst/>
                <a:latin typeface="-apple-system"/>
              </a:rPr>
              <a:t>算法</a:t>
            </a:r>
            <a:r>
              <a:rPr lang="zh-CN" altLang="en-US" b="0" i="0" dirty="0">
                <a:solidFill>
                  <a:srgbClr val="05073B"/>
                </a:solidFill>
                <a:effectLst/>
                <a:latin typeface="PingFang-SC-Regular"/>
              </a:rPr>
              <a:t>：与 </a:t>
            </a:r>
            <a:r>
              <a:rPr lang="en-US" altLang="zh-CN" b="0" i="0" dirty="0" err="1">
                <a:solidFill>
                  <a:srgbClr val="05073B"/>
                </a:solidFill>
                <a:effectLst/>
                <a:latin typeface="PingFang-SC-Regular"/>
              </a:rPr>
              <a:t>Coze</a:t>
            </a:r>
            <a:r>
              <a:rPr lang="en-US" altLang="zh-CN" b="0" i="0" dirty="0">
                <a:solidFill>
                  <a:srgbClr val="05073B"/>
                </a:solidFill>
                <a:effectLst/>
                <a:latin typeface="PingFang-SC-Regular"/>
              </a:rPr>
              <a:t> API </a:t>
            </a:r>
            <a:r>
              <a:rPr lang="zh-CN" altLang="en-US" b="0" i="0" dirty="0">
                <a:solidFill>
                  <a:srgbClr val="05073B"/>
                </a:solidFill>
                <a:effectLst/>
                <a:latin typeface="PingFang-SC-Regular"/>
              </a:rPr>
              <a:t>交互的算法。</a:t>
            </a:r>
          </a:p>
          <a:p>
            <a:pPr algn="l">
              <a:spcBef>
                <a:spcPts val="450"/>
              </a:spcBef>
              <a:buFont typeface="Arial" panose="020B0604020202020204" pitchFamily="34" charset="0"/>
              <a:buChar char="•"/>
            </a:pPr>
            <a:r>
              <a:rPr lang="zh-CN" altLang="en-US" b="1" i="0" dirty="0">
                <a:solidFill>
                  <a:srgbClr val="05073B"/>
                </a:solidFill>
                <a:effectLst/>
                <a:latin typeface="-apple-system"/>
              </a:rPr>
              <a:t>处理流程</a:t>
            </a:r>
            <a:r>
              <a:rPr lang="zh-CN" altLang="en-US" b="0" i="0" dirty="0">
                <a:solidFill>
                  <a:srgbClr val="05073B"/>
                </a:solidFill>
                <a:effectLst/>
                <a:latin typeface="PingFang-SC-Regular"/>
              </a:rPr>
              <a:t>：流程图表示逻辑流程。</a:t>
            </a:r>
          </a:p>
          <a:p>
            <a:pPr algn="l">
              <a:spcBef>
                <a:spcPts val="450"/>
              </a:spcBef>
              <a:buFont typeface="Arial" panose="020B0604020202020204" pitchFamily="34" charset="0"/>
              <a:buChar char="•"/>
            </a:pPr>
            <a:r>
              <a:rPr lang="zh-CN" altLang="en-US" b="1" i="0" dirty="0">
                <a:solidFill>
                  <a:srgbClr val="05073B"/>
                </a:solidFill>
                <a:effectLst/>
                <a:latin typeface="-apple-system"/>
              </a:rPr>
              <a:t>类设计</a:t>
            </a:r>
            <a:r>
              <a:rPr lang="zh-CN" altLang="en-US" b="0" i="0" dirty="0">
                <a:solidFill>
                  <a:srgbClr val="05073B"/>
                </a:solidFill>
                <a:effectLst/>
                <a:latin typeface="PingFang-SC-Regular"/>
              </a:rPr>
              <a:t>：包括 </a:t>
            </a:r>
            <a:r>
              <a:rPr lang="en-US" altLang="zh-CN" b="0" i="0" dirty="0" err="1">
                <a:solidFill>
                  <a:srgbClr val="05073B"/>
                </a:solidFill>
                <a:effectLst/>
                <a:latin typeface="PingFang-SC-Regular"/>
              </a:rPr>
              <a:t>MainAppController</a:t>
            </a:r>
            <a:r>
              <a:rPr lang="zh-CN" altLang="en-US" b="0" i="0" dirty="0">
                <a:solidFill>
                  <a:srgbClr val="05073B"/>
                </a:solidFill>
                <a:effectLst/>
                <a:latin typeface="PingFang-SC-Regular"/>
              </a:rPr>
              <a:t>、</a:t>
            </a:r>
            <a:r>
              <a:rPr lang="en-US" altLang="zh-CN" b="0" i="0" dirty="0" err="1">
                <a:solidFill>
                  <a:srgbClr val="05073B"/>
                </a:solidFill>
                <a:effectLst/>
                <a:latin typeface="PingFang-SC-Regular"/>
              </a:rPr>
              <a:t>CozeApiExample</a:t>
            </a:r>
            <a:r>
              <a:rPr lang="en-US" altLang="zh-CN" b="0" i="0" dirty="0">
                <a:solidFill>
                  <a:srgbClr val="05073B"/>
                </a:solidFill>
                <a:effectLst/>
                <a:latin typeface="PingFang-SC-Regular"/>
              </a:rPr>
              <a:t> </a:t>
            </a:r>
            <a:r>
              <a:rPr lang="zh-CN" altLang="en-US" b="0" i="0" dirty="0">
                <a:solidFill>
                  <a:srgbClr val="05073B"/>
                </a:solidFill>
                <a:effectLst/>
                <a:latin typeface="PingFang-SC-Regular"/>
              </a:rPr>
              <a:t>等类。</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636378F3-994D-7883-7F85-16F9205A65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23126" y="2280489"/>
            <a:ext cx="4661606" cy="2913961"/>
          </a:xfrm>
          <a:prstGeom prst="rect">
            <a:avLst/>
          </a:prstGeom>
        </p:spPr>
      </p:pic>
    </p:spTree>
    <p:extLst>
      <p:ext uri="{BB962C8B-B14F-4D97-AF65-F5344CB8AC3E}">
        <p14:creationId xmlns:p14="http://schemas.microsoft.com/office/powerpoint/2010/main" val="288913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BB67B-A149-664D-12D3-C5C38A91506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9CB5981-61E0-07AF-B9E0-7E800D78C5E5}"/>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项目细节</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FA4FB005-E1FD-6998-8E72-435055FAC09E}"/>
              </a:ext>
            </a:extLst>
          </p:cNvPr>
          <p:cNvSpPr txBox="1"/>
          <p:nvPr/>
        </p:nvSpPr>
        <p:spPr>
          <a:xfrm>
            <a:off x="1586542" y="1891070"/>
            <a:ext cx="10693478" cy="4283224"/>
          </a:xfrm>
          <a:prstGeom prst="rect">
            <a:avLst/>
          </a:prstGeom>
          <a:noFill/>
        </p:spPr>
        <p:txBody>
          <a:bodyPr wrap="square">
            <a:spAutoFit/>
          </a:bodyPr>
          <a:lstStyle/>
          <a:p>
            <a:pPr algn="l">
              <a:spcBef>
                <a:spcPts val="1050"/>
              </a:spcBef>
              <a:spcAft>
                <a:spcPts val="600"/>
              </a:spcAft>
            </a:pPr>
            <a:r>
              <a:rPr lang="zh-CN" altLang="en-US" sz="2400" b="1" i="0" dirty="0">
                <a:solidFill>
                  <a:srgbClr val="05073B"/>
                </a:solidFill>
                <a:effectLst/>
                <a:latin typeface="-apple-system"/>
              </a:rPr>
              <a:t>界面设计与说明</a:t>
            </a:r>
          </a:p>
          <a:p>
            <a:pPr algn="l">
              <a:spcBef>
                <a:spcPts val="1050"/>
              </a:spcBef>
              <a:buFont typeface="Arial" panose="020B0604020202020204" pitchFamily="34" charset="0"/>
              <a:buChar char="•"/>
            </a:pPr>
            <a:r>
              <a:rPr lang="zh-CN" altLang="en-US" sz="2400" b="1" i="0" dirty="0">
                <a:solidFill>
                  <a:srgbClr val="05073B"/>
                </a:solidFill>
                <a:effectLst/>
                <a:latin typeface="-apple-system"/>
              </a:rPr>
              <a:t>主菜单界面</a:t>
            </a:r>
            <a:r>
              <a:rPr lang="zh-CN" altLang="en-US" sz="2400" b="0" i="0" dirty="0">
                <a:solidFill>
                  <a:srgbClr val="05073B"/>
                </a:solidFill>
                <a:effectLst/>
                <a:latin typeface="PingFang-SC-Regular"/>
              </a:rPr>
              <a:t>：包含开始游戏、游戏帮助、退出游戏和查看排行榜按钮。</a:t>
            </a:r>
          </a:p>
          <a:p>
            <a:pPr algn="l">
              <a:spcBef>
                <a:spcPts val="450"/>
              </a:spcBef>
              <a:buFont typeface="Arial" panose="020B0604020202020204" pitchFamily="34" charset="0"/>
              <a:buChar char="•"/>
            </a:pPr>
            <a:r>
              <a:rPr lang="zh-CN" altLang="en-US" sz="2400" b="1" i="0" dirty="0">
                <a:solidFill>
                  <a:srgbClr val="05073B"/>
                </a:solidFill>
                <a:effectLst/>
                <a:latin typeface="-apple-system"/>
              </a:rPr>
              <a:t>角色选择界面</a:t>
            </a:r>
            <a:r>
              <a:rPr lang="zh-CN" altLang="en-US" sz="2400" b="0" i="0" dirty="0">
                <a:solidFill>
                  <a:srgbClr val="05073B"/>
                </a:solidFill>
                <a:effectLst/>
                <a:latin typeface="PingFang-SC-Regular"/>
              </a:rPr>
              <a:t>：玩家依次选择两名角色。</a:t>
            </a:r>
          </a:p>
          <a:p>
            <a:pPr algn="l">
              <a:spcBef>
                <a:spcPts val="450"/>
              </a:spcBef>
              <a:buFont typeface="Arial" panose="020B0604020202020204" pitchFamily="34" charset="0"/>
              <a:buChar char="•"/>
            </a:pPr>
            <a:r>
              <a:rPr lang="zh-CN" altLang="en-US" sz="2400" b="1" i="0" dirty="0">
                <a:solidFill>
                  <a:srgbClr val="05073B"/>
                </a:solidFill>
                <a:effectLst/>
                <a:latin typeface="-apple-system"/>
              </a:rPr>
              <a:t>地图选择界面</a:t>
            </a:r>
            <a:r>
              <a:rPr lang="zh-CN" altLang="en-US" sz="2400" b="0" i="0" dirty="0">
                <a:solidFill>
                  <a:srgbClr val="05073B"/>
                </a:solidFill>
                <a:effectLst/>
                <a:latin typeface="PingFang-SC-Regular"/>
              </a:rPr>
              <a:t>：玩家选择游戏地图。</a:t>
            </a:r>
          </a:p>
          <a:p>
            <a:pPr algn="l">
              <a:spcBef>
                <a:spcPts val="450"/>
              </a:spcBef>
              <a:buFont typeface="Arial" panose="020B0604020202020204" pitchFamily="34" charset="0"/>
              <a:buChar char="•"/>
            </a:pPr>
            <a:r>
              <a:rPr lang="zh-CN" altLang="en-US" sz="2400" b="1" i="0" dirty="0">
                <a:solidFill>
                  <a:srgbClr val="05073B"/>
                </a:solidFill>
                <a:effectLst/>
                <a:latin typeface="-apple-system"/>
              </a:rPr>
              <a:t>战斗界面</a:t>
            </a:r>
            <a:r>
              <a:rPr lang="zh-CN" altLang="en-US" sz="2400" b="0" i="0" dirty="0">
                <a:solidFill>
                  <a:srgbClr val="05073B"/>
                </a:solidFill>
                <a:effectLst/>
                <a:latin typeface="PingFang-SC-Regular"/>
              </a:rPr>
              <a:t>：展示战斗场景，包括角色、技能、地形等。</a:t>
            </a:r>
          </a:p>
          <a:p>
            <a:pPr algn="l">
              <a:spcBef>
                <a:spcPts val="450"/>
              </a:spcBef>
              <a:buFont typeface="Arial" panose="020B0604020202020204" pitchFamily="34" charset="0"/>
              <a:buChar char="•"/>
            </a:pPr>
            <a:r>
              <a:rPr lang="zh-CN" altLang="en-US" sz="2400" b="1" i="0" dirty="0">
                <a:solidFill>
                  <a:srgbClr val="05073B"/>
                </a:solidFill>
                <a:effectLst/>
                <a:latin typeface="-apple-system"/>
              </a:rPr>
              <a:t>排行榜界面</a:t>
            </a:r>
            <a:r>
              <a:rPr lang="zh-CN" altLang="en-US" sz="2400" b="0" i="0" dirty="0">
                <a:solidFill>
                  <a:srgbClr val="05073B"/>
                </a:solidFill>
                <a:effectLst/>
                <a:latin typeface="PingFang-SC-Regular"/>
              </a:rPr>
              <a:t>：显示玩家排名、用时、本地游戏时间。</a:t>
            </a:r>
          </a:p>
          <a:p>
            <a:pPr algn="l">
              <a:spcBef>
                <a:spcPts val="450"/>
              </a:spcBef>
              <a:buFont typeface="Arial" panose="020B0604020202020204" pitchFamily="34" charset="0"/>
              <a:buChar char="•"/>
            </a:pPr>
            <a:r>
              <a:rPr lang="zh-CN" altLang="en-US" sz="2400" b="1" i="0" dirty="0">
                <a:solidFill>
                  <a:srgbClr val="05073B"/>
                </a:solidFill>
                <a:effectLst/>
                <a:latin typeface="-apple-system"/>
              </a:rPr>
              <a:t>帮助界面</a:t>
            </a:r>
            <a:r>
              <a:rPr lang="zh-CN" altLang="en-US" sz="2400" b="0" i="0" dirty="0">
                <a:solidFill>
                  <a:srgbClr val="05073B"/>
                </a:solidFill>
                <a:effectLst/>
                <a:latin typeface="PingFang-SC-Regular"/>
              </a:rPr>
              <a:t>：提供对话界面和帮助信息页面。</a:t>
            </a: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spTree>
    <p:extLst>
      <p:ext uri="{BB962C8B-B14F-4D97-AF65-F5344CB8AC3E}">
        <p14:creationId xmlns:p14="http://schemas.microsoft.com/office/powerpoint/2010/main" val="864361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A880D-3DBE-42AA-9764-2D8395CE2822}"/>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D4212E20-70F8-0DA8-F7EE-4B54A3DAF7DC}"/>
              </a:ext>
            </a:extLst>
          </p:cNvPr>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a:extLst>
              <a:ext uri="{FF2B5EF4-FFF2-40B4-BE49-F238E27FC236}">
                <a16:creationId xmlns:a16="http://schemas.microsoft.com/office/drawing/2014/main" id="{1A378571-9DEC-C66E-2F01-A3D45CD5643A}"/>
              </a:ext>
            </a:extLst>
          </p:cNvPr>
          <p:cNvSpPr txBox="1"/>
          <p:nvPr/>
        </p:nvSpPr>
        <p:spPr>
          <a:xfrm>
            <a:off x="4507230" y="2620010"/>
            <a:ext cx="4667885" cy="1323439"/>
          </a:xfrm>
          <a:prstGeom prst="rect">
            <a:avLst/>
          </a:prstGeom>
          <a:noFill/>
        </p:spPr>
        <p:txBody>
          <a:bodyPr wrap="square" rtlCol="0">
            <a:spAutoFit/>
          </a:bodyPr>
          <a:lstStyle/>
          <a:p>
            <a:r>
              <a:rPr lang="zh-CN" altLang="en-US" sz="8000" b="1" spc="800" dirty="0">
                <a:solidFill>
                  <a:srgbClr val="C00000"/>
                </a:solidFill>
                <a:uFillTx/>
              </a:rPr>
              <a:t>项目亮点</a:t>
            </a:r>
          </a:p>
        </p:txBody>
      </p:sp>
      <p:pic>
        <p:nvPicPr>
          <p:cNvPr id="7" name="图片 6">
            <a:extLst>
              <a:ext uri="{FF2B5EF4-FFF2-40B4-BE49-F238E27FC236}">
                <a16:creationId xmlns:a16="http://schemas.microsoft.com/office/drawing/2014/main" id="{CE311F33-3574-5C2B-B653-EDA1D9AF9B34}"/>
              </a:ext>
            </a:extLst>
          </p:cNvPr>
          <p:cNvPicPr>
            <a:picLocks noChangeAspect="1"/>
          </p:cNvPicPr>
          <p:nvPr/>
        </p:nvPicPr>
        <p:blipFill>
          <a:blip r:embed="rId4"/>
          <a:stretch>
            <a:fillRect/>
          </a:stretch>
        </p:blipFill>
        <p:spPr>
          <a:xfrm>
            <a:off x="11002845" y="-85696"/>
            <a:ext cx="1097506" cy="562358"/>
          </a:xfrm>
          <a:prstGeom prst="rect">
            <a:avLst/>
          </a:prstGeom>
        </p:spPr>
      </p:pic>
      <p:sp>
        <p:nvSpPr>
          <p:cNvPr id="12" name="六边形 11">
            <a:extLst>
              <a:ext uri="{FF2B5EF4-FFF2-40B4-BE49-F238E27FC236}">
                <a16:creationId xmlns:a16="http://schemas.microsoft.com/office/drawing/2014/main" id="{51C5D29A-A04F-E282-1251-93D8EB32A529}"/>
              </a:ext>
            </a:extLst>
          </p:cNvPr>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sym typeface="+mn-ea"/>
              </a:rPr>
              <a:t>PART 04</a:t>
            </a:r>
            <a:endParaRPr lang="en-US" sz="4000" dirty="0"/>
          </a:p>
        </p:txBody>
      </p:sp>
      <p:sp>
        <p:nvSpPr>
          <p:cNvPr id="13" name="流程图: 手动输入 12">
            <a:extLst>
              <a:ext uri="{FF2B5EF4-FFF2-40B4-BE49-F238E27FC236}">
                <a16:creationId xmlns:a16="http://schemas.microsoft.com/office/drawing/2014/main" id="{05AF535D-7BAD-2237-CFE3-220F47DEAAED}"/>
              </a:ext>
            </a:extLst>
          </p:cNvPr>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3632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86E16-955D-D10C-B621-967D254F605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D9B3BC7-FAD4-D856-E3CC-BA9DC9D99727}"/>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项目亮点</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237582F3-6641-83FA-22A5-79596B9441F1}"/>
              </a:ext>
            </a:extLst>
          </p:cNvPr>
          <p:cNvSpPr txBox="1"/>
          <p:nvPr/>
        </p:nvSpPr>
        <p:spPr>
          <a:xfrm>
            <a:off x="859429" y="1009721"/>
            <a:ext cx="10693478" cy="1728678"/>
          </a:xfrm>
          <a:prstGeom prst="rect">
            <a:avLst/>
          </a:prstGeom>
          <a:noFill/>
        </p:spPr>
        <p:txBody>
          <a:bodyPr wrap="square">
            <a:spAutoFit/>
          </a:bodyPr>
          <a:lstStyle/>
          <a:p>
            <a:pPr algn="l">
              <a:spcBef>
                <a:spcPts val="1050"/>
              </a:spcBef>
              <a:spcAft>
                <a:spcPts val="600"/>
              </a:spcAft>
            </a:pPr>
            <a:r>
              <a:rPr lang="en-US" altLang="zh-CN" sz="3200" b="1" i="0" dirty="0">
                <a:solidFill>
                  <a:srgbClr val="05073B"/>
                </a:solidFill>
                <a:effectLst/>
                <a:latin typeface="-apple-system"/>
              </a:rPr>
              <a:t>1</a:t>
            </a:r>
            <a:r>
              <a:rPr lang="zh-CN" altLang="en-US" sz="3200" b="1" i="0" dirty="0">
                <a:solidFill>
                  <a:srgbClr val="05073B"/>
                </a:solidFill>
                <a:effectLst/>
                <a:latin typeface="-apple-system"/>
              </a:rPr>
              <a:t>，大语言模型的接入极大增强了游戏帮助模块的实用性</a:t>
            </a:r>
            <a:endParaRPr lang="zh-CN" altLang="en-US" sz="3200" b="0" i="0" dirty="0">
              <a:solidFill>
                <a:srgbClr val="05073B"/>
              </a:solidFill>
              <a:effectLst/>
              <a:latin typeface="PingFang-SC-Regular"/>
            </a:endParaRPr>
          </a:p>
          <a:p>
            <a:pPr algn="l">
              <a:spcBef>
                <a:spcPts val="450"/>
              </a:spcBef>
              <a:buFont typeface="Arial" panose="020B0604020202020204" pitchFamily="34" charset="0"/>
              <a:buChar char="•"/>
            </a:pPr>
            <a:endParaRPr lang="zh-CN" altLang="en-US" sz="2800"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A18016F6-8706-405D-6FA8-A5B51F9D4F9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1344" y="2078261"/>
            <a:ext cx="8945696" cy="1023905"/>
          </a:xfrm>
          <a:prstGeom prst="rect">
            <a:avLst/>
          </a:prstGeom>
        </p:spPr>
      </p:pic>
      <p:pic>
        <p:nvPicPr>
          <p:cNvPr id="7" name="图片 6">
            <a:extLst>
              <a:ext uri="{FF2B5EF4-FFF2-40B4-BE49-F238E27FC236}">
                <a16:creationId xmlns:a16="http://schemas.microsoft.com/office/drawing/2014/main" id="{FF80E216-A09F-58E7-6314-AF29A78E9A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18621" y="3303070"/>
            <a:ext cx="5938092" cy="2676396"/>
          </a:xfrm>
          <a:prstGeom prst="rect">
            <a:avLst/>
          </a:prstGeom>
        </p:spPr>
      </p:pic>
    </p:spTree>
    <p:extLst>
      <p:ext uri="{BB962C8B-B14F-4D97-AF65-F5344CB8AC3E}">
        <p14:creationId xmlns:p14="http://schemas.microsoft.com/office/powerpoint/2010/main" val="2405334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3337B-2B4B-5722-D827-0134D5B1BB9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F4ED2BA-27B0-298C-0193-2DE051CE98CB}"/>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项目亮点</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DC8B5EF8-5E3F-736D-4334-7FEF92A5E9EC}"/>
              </a:ext>
            </a:extLst>
          </p:cNvPr>
          <p:cNvSpPr txBox="1"/>
          <p:nvPr/>
        </p:nvSpPr>
        <p:spPr>
          <a:xfrm>
            <a:off x="1090783" y="965653"/>
            <a:ext cx="10693478" cy="1233671"/>
          </a:xfrm>
          <a:prstGeom prst="rect">
            <a:avLst/>
          </a:prstGeom>
          <a:noFill/>
        </p:spPr>
        <p:txBody>
          <a:bodyPr wrap="square">
            <a:spAutoFit/>
          </a:bodyPr>
          <a:lstStyle/>
          <a:p>
            <a:pPr algn="l">
              <a:spcBef>
                <a:spcPts val="1050"/>
              </a:spcBef>
              <a:spcAft>
                <a:spcPts val="600"/>
              </a:spcAft>
            </a:pPr>
            <a:r>
              <a:rPr lang="en-US" altLang="zh-CN" sz="3200" b="1" i="0" dirty="0">
                <a:solidFill>
                  <a:srgbClr val="05073B"/>
                </a:solidFill>
                <a:effectLst/>
                <a:latin typeface="-apple-system"/>
              </a:rPr>
              <a:t>2</a:t>
            </a:r>
            <a:r>
              <a:rPr lang="zh-CN" altLang="en-US" sz="3200" b="1" dirty="0">
                <a:solidFill>
                  <a:srgbClr val="05073B"/>
                </a:solidFill>
                <a:latin typeface="-apple-system"/>
              </a:rPr>
              <a:t>，</a:t>
            </a:r>
            <a:r>
              <a:rPr lang="en-US" altLang="zh-CN" sz="3200" b="1" dirty="0">
                <a:solidFill>
                  <a:srgbClr val="05073B"/>
                </a:solidFill>
                <a:latin typeface="-apple-system"/>
              </a:rPr>
              <a:t>Dijkstra</a:t>
            </a:r>
            <a:r>
              <a:rPr lang="zh-CN" altLang="en-US" sz="3200" b="1" dirty="0">
                <a:solidFill>
                  <a:srgbClr val="05073B"/>
                </a:solidFill>
                <a:latin typeface="-apple-system"/>
              </a:rPr>
              <a:t>算法的引入使人机角色拥有高效的行动逻辑</a:t>
            </a: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9D26814F-7BF5-07CF-EF45-1971698E0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8039" y="2599820"/>
            <a:ext cx="5446119" cy="2094662"/>
          </a:xfrm>
          <a:prstGeom prst="rect">
            <a:avLst/>
          </a:prstGeom>
        </p:spPr>
      </p:pic>
      <p:pic>
        <p:nvPicPr>
          <p:cNvPr id="7" name="图片 6">
            <a:extLst>
              <a:ext uri="{FF2B5EF4-FFF2-40B4-BE49-F238E27FC236}">
                <a16:creationId xmlns:a16="http://schemas.microsoft.com/office/drawing/2014/main" id="{9D6C5804-0B83-0282-0C92-A644DE1CCB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48368" y="2005069"/>
            <a:ext cx="3348526" cy="4247003"/>
          </a:xfrm>
          <a:prstGeom prst="rect">
            <a:avLst/>
          </a:prstGeom>
        </p:spPr>
      </p:pic>
    </p:spTree>
    <p:extLst>
      <p:ext uri="{BB962C8B-B14F-4D97-AF65-F5344CB8AC3E}">
        <p14:creationId xmlns:p14="http://schemas.microsoft.com/office/powerpoint/2010/main" val="8940139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71EF6-3D04-CCD1-90B6-419F16A999F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4A510EB-EDB2-0827-EF25-13F27D7708A0}"/>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项目亮点</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1CC5DF80-952D-0878-3244-83F0FE03203E}"/>
              </a:ext>
            </a:extLst>
          </p:cNvPr>
          <p:cNvSpPr txBox="1"/>
          <p:nvPr/>
        </p:nvSpPr>
        <p:spPr>
          <a:xfrm>
            <a:off x="1355188" y="954636"/>
            <a:ext cx="10693478" cy="1233671"/>
          </a:xfrm>
          <a:prstGeom prst="rect">
            <a:avLst/>
          </a:prstGeom>
          <a:noFill/>
        </p:spPr>
        <p:txBody>
          <a:bodyPr wrap="square">
            <a:spAutoFit/>
          </a:bodyPr>
          <a:lstStyle/>
          <a:p>
            <a:pPr algn="l">
              <a:spcBef>
                <a:spcPts val="1050"/>
              </a:spcBef>
              <a:spcAft>
                <a:spcPts val="600"/>
              </a:spcAft>
            </a:pPr>
            <a:r>
              <a:rPr lang="en-US" altLang="zh-CN" sz="3200" b="1" i="0" dirty="0">
                <a:solidFill>
                  <a:srgbClr val="05073B"/>
                </a:solidFill>
                <a:effectLst/>
                <a:latin typeface="-apple-system"/>
              </a:rPr>
              <a:t>3</a:t>
            </a:r>
            <a:r>
              <a:rPr lang="zh-CN" altLang="en-US" sz="3200" b="1" i="0" dirty="0">
                <a:solidFill>
                  <a:srgbClr val="05073B"/>
                </a:solidFill>
                <a:effectLst/>
                <a:latin typeface="-apple-system"/>
              </a:rPr>
              <a:t>，云端数据库的使用激发全网玩家挑战高分的热情</a:t>
            </a:r>
            <a:endParaRPr lang="zh-CN" altLang="en-US" sz="3200" b="1" dirty="0">
              <a:solidFill>
                <a:srgbClr val="05073B"/>
              </a:solidFill>
              <a:latin typeface="-apple-system"/>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D0726C2C-4D77-BB7B-5628-5AE4C29964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28" y="2188307"/>
            <a:ext cx="5305952" cy="3641074"/>
          </a:xfrm>
          <a:prstGeom prst="rect">
            <a:avLst/>
          </a:prstGeom>
        </p:spPr>
      </p:pic>
      <p:pic>
        <p:nvPicPr>
          <p:cNvPr id="7" name="图片 6">
            <a:extLst>
              <a:ext uri="{FF2B5EF4-FFF2-40B4-BE49-F238E27FC236}">
                <a16:creationId xmlns:a16="http://schemas.microsoft.com/office/drawing/2014/main" id="{B6B734D0-BE84-DD6A-19FA-2A429975D9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11312" y="2188307"/>
            <a:ext cx="4957590" cy="2462103"/>
          </a:xfrm>
          <a:prstGeom prst="rect">
            <a:avLst/>
          </a:prstGeom>
        </p:spPr>
      </p:pic>
    </p:spTree>
    <p:extLst>
      <p:ext uri="{BB962C8B-B14F-4D97-AF65-F5344CB8AC3E}">
        <p14:creationId xmlns:p14="http://schemas.microsoft.com/office/powerpoint/2010/main" val="3117236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1452D-AC88-41B1-CBF0-A1C163BF6A5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E9F3BB4-0621-3171-F458-5499C928D614}"/>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项目亮点</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985851B4-D08F-0EFA-DFCB-B4A347C7FFD5}"/>
              </a:ext>
            </a:extLst>
          </p:cNvPr>
          <p:cNvSpPr txBox="1"/>
          <p:nvPr/>
        </p:nvSpPr>
        <p:spPr>
          <a:xfrm>
            <a:off x="1236280" y="943620"/>
            <a:ext cx="10693478" cy="1233671"/>
          </a:xfrm>
          <a:prstGeom prst="rect">
            <a:avLst/>
          </a:prstGeom>
          <a:noFill/>
        </p:spPr>
        <p:txBody>
          <a:bodyPr wrap="square">
            <a:spAutoFit/>
          </a:bodyPr>
          <a:lstStyle/>
          <a:p>
            <a:pPr algn="l">
              <a:spcBef>
                <a:spcPts val="1050"/>
              </a:spcBef>
              <a:spcAft>
                <a:spcPts val="600"/>
              </a:spcAft>
            </a:pPr>
            <a:r>
              <a:rPr lang="en-US" altLang="zh-CN" sz="3200" b="1" i="0" dirty="0">
                <a:solidFill>
                  <a:srgbClr val="05073B"/>
                </a:solidFill>
                <a:effectLst/>
                <a:latin typeface="-apple-system"/>
              </a:rPr>
              <a:t>4</a:t>
            </a:r>
            <a:r>
              <a:rPr lang="zh-CN" altLang="en-US" sz="3200" b="1" i="0" dirty="0">
                <a:solidFill>
                  <a:srgbClr val="05073B"/>
                </a:solidFill>
                <a:effectLst/>
                <a:latin typeface="-apple-system"/>
              </a:rPr>
              <a:t>，丰富的角色技能特效音效设计优化用户视听体验</a:t>
            </a:r>
            <a:endParaRPr lang="zh-CN" altLang="en-US" sz="3200" b="1" dirty="0">
              <a:solidFill>
                <a:srgbClr val="05073B"/>
              </a:solidFill>
              <a:latin typeface="-apple-system"/>
            </a:endParaRPr>
          </a:p>
          <a:p>
            <a:pPr algn="l">
              <a:spcBef>
                <a:spcPts val="1050"/>
              </a:spcBef>
            </a:pPr>
            <a:endParaRPr lang="zh-CN" altLang="en-US" sz="2800" b="0" i="0" dirty="0">
              <a:solidFill>
                <a:srgbClr val="05073B"/>
              </a:solidFill>
              <a:effectLst/>
              <a:latin typeface="-apple-system"/>
            </a:endParaRPr>
          </a:p>
        </p:txBody>
      </p:sp>
      <p:pic>
        <p:nvPicPr>
          <p:cNvPr id="5" name="图片 4">
            <a:extLst>
              <a:ext uri="{FF2B5EF4-FFF2-40B4-BE49-F238E27FC236}">
                <a16:creationId xmlns:a16="http://schemas.microsoft.com/office/drawing/2014/main" id="{00D07329-765A-494B-FCAA-8FB025E48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429" y="2177291"/>
            <a:ext cx="3477829" cy="4238739"/>
          </a:xfrm>
          <a:prstGeom prst="rect">
            <a:avLst/>
          </a:prstGeom>
        </p:spPr>
      </p:pic>
      <p:pic>
        <p:nvPicPr>
          <p:cNvPr id="7" name="图片 6">
            <a:extLst>
              <a:ext uri="{FF2B5EF4-FFF2-40B4-BE49-F238E27FC236}">
                <a16:creationId xmlns:a16="http://schemas.microsoft.com/office/drawing/2014/main" id="{3F5F14F1-CC2D-82F5-41BB-E82C657ED5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77291"/>
            <a:ext cx="4534846" cy="4238739"/>
          </a:xfrm>
          <a:prstGeom prst="rect">
            <a:avLst/>
          </a:prstGeom>
        </p:spPr>
      </p:pic>
    </p:spTree>
    <p:extLst>
      <p:ext uri="{BB962C8B-B14F-4D97-AF65-F5344CB8AC3E}">
        <p14:creationId xmlns:p14="http://schemas.microsoft.com/office/powerpoint/2010/main" val="1405317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C3A3-9FA7-D8B3-02E3-21145A2B4F87}"/>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73D242E0-831C-CDD8-B873-87F2BBE89191}"/>
              </a:ext>
            </a:extLst>
          </p:cNvPr>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a:extLst>
              <a:ext uri="{FF2B5EF4-FFF2-40B4-BE49-F238E27FC236}">
                <a16:creationId xmlns:a16="http://schemas.microsoft.com/office/drawing/2014/main" id="{AA57F304-DF30-72B3-1121-02242602607C}"/>
              </a:ext>
            </a:extLst>
          </p:cNvPr>
          <p:cNvSpPr txBox="1"/>
          <p:nvPr/>
        </p:nvSpPr>
        <p:spPr>
          <a:xfrm>
            <a:off x="4507230" y="2620010"/>
            <a:ext cx="4667885" cy="1323439"/>
          </a:xfrm>
          <a:prstGeom prst="rect">
            <a:avLst/>
          </a:prstGeom>
          <a:noFill/>
        </p:spPr>
        <p:txBody>
          <a:bodyPr wrap="square" rtlCol="0">
            <a:spAutoFit/>
          </a:bodyPr>
          <a:lstStyle/>
          <a:p>
            <a:r>
              <a:rPr lang="zh-CN" altLang="en-US" sz="8000" b="1" spc="800" dirty="0">
                <a:solidFill>
                  <a:srgbClr val="C00000"/>
                </a:solidFill>
                <a:uFillTx/>
              </a:rPr>
              <a:t>成果展示</a:t>
            </a:r>
          </a:p>
        </p:txBody>
      </p:sp>
      <p:pic>
        <p:nvPicPr>
          <p:cNvPr id="7" name="图片 6">
            <a:extLst>
              <a:ext uri="{FF2B5EF4-FFF2-40B4-BE49-F238E27FC236}">
                <a16:creationId xmlns:a16="http://schemas.microsoft.com/office/drawing/2014/main" id="{42073547-9134-36AE-CC3D-BC57E27B7108}"/>
              </a:ext>
            </a:extLst>
          </p:cNvPr>
          <p:cNvPicPr>
            <a:picLocks noChangeAspect="1"/>
          </p:cNvPicPr>
          <p:nvPr/>
        </p:nvPicPr>
        <p:blipFill>
          <a:blip r:embed="rId4"/>
          <a:stretch>
            <a:fillRect/>
          </a:stretch>
        </p:blipFill>
        <p:spPr>
          <a:xfrm>
            <a:off x="11002845" y="-85696"/>
            <a:ext cx="1097506" cy="562358"/>
          </a:xfrm>
          <a:prstGeom prst="rect">
            <a:avLst/>
          </a:prstGeom>
        </p:spPr>
      </p:pic>
      <p:sp>
        <p:nvSpPr>
          <p:cNvPr id="12" name="六边形 11">
            <a:extLst>
              <a:ext uri="{FF2B5EF4-FFF2-40B4-BE49-F238E27FC236}">
                <a16:creationId xmlns:a16="http://schemas.microsoft.com/office/drawing/2014/main" id="{4496484E-0179-7755-380C-B6BD2F48D60B}"/>
              </a:ext>
            </a:extLst>
          </p:cNvPr>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sym typeface="+mn-ea"/>
              </a:rPr>
              <a:t>PART 05</a:t>
            </a:r>
            <a:endParaRPr lang="en-US" sz="4000" dirty="0"/>
          </a:p>
        </p:txBody>
      </p:sp>
      <p:sp>
        <p:nvSpPr>
          <p:cNvPr id="13" name="流程图: 手动输入 12">
            <a:extLst>
              <a:ext uri="{FF2B5EF4-FFF2-40B4-BE49-F238E27FC236}">
                <a16:creationId xmlns:a16="http://schemas.microsoft.com/office/drawing/2014/main" id="{7BC043D8-BE3A-B85A-177A-E0B95EF9CF89}"/>
              </a:ext>
            </a:extLst>
          </p:cNvPr>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62746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27356-A10D-FA75-794B-7A357CFCECC6}"/>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FBF31514-4670-5367-1C48-94D78C7B6963}"/>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成果展示</a:t>
            </a:r>
            <a:endParaRPr lang="en-US" altLang="zh-CN" sz="3200" dirty="0">
              <a:solidFill>
                <a:schemeClr val="bg1"/>
              </a:solidFill>
              <a:latin typeface="Arial" panose="020B0604020202020204" pitchFamily="34" charset="0"/>
              <a:ea typeface="微软雅黑" panose="020B0503020204020204" charset="-122"/>
            </a:endParaRPr>
          </a:p>
        </p:txBody>
      </p:sp>
    </p:spTree>
    <p:extLst>
      <p:ext uri="{BB962C8B-B14F-4D97-AF65-F5344CB8AC3E}">
        <p14:creationId xmlns:p14="http://schemas.microsoft.com/office/powerpoint/2010/main" val="3829793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D4FE-2823-664F-CF89-8D763ED4DD96}"/>
            </a:ext>
          </a:extLst>
        </p:cNvPr>
        <p:cNvGrpSpPr/>
        <p:nvPr/>
      </p:nvGrpSpPr>
      <p:grpSpPr>
        <a:xfrm>
          <a:off x="0" y="0"/>
          <a:ext cx="0" cy="0"/>
          <a:chOff x="0" y="0"/>
          <a:chExt cx="0" cy="0"/>
        </a:xfrm>
      </p:grpSpPr>
      <p:pic>
        <p:nvPicPr>
          <p:cNvPr id="11" name="图片 10">
            <a:extLst>
              <a:ext uri="{FF2B5EF4-FFF2-40B4-BE49-F238E27FC236}">
                <a16:creationId xmlns:a16="http://schemas.microsoft.com/office/drawing/2014/main" id="{B2C60A4F-6A9F-D734-EEFE-1847ACCDD410}"/>
              </a:ext>
            </a:extLst>
          </p:cNvPr>
          <p:cNvPicPr>
            <a:picLocks noChangeAspect="1"/>
          </p:cNvPicPr>
          <p:nvPr/>
        </p:nvPicPr>
        <p:blipFill>
          <a:blip r:embed="rId2"/>
          <a:stretch>
            <a:fillRect/>
          </a:stretch>
        </p:blipFill>
        <p:spPr>
          <a:xfrm>
            <a:off x="168275" y="635000"/>
            <a:ext cx="11719560" cy="5790565"/>
          </a:xfrm>
          <a:prstGeom prst="rect">
            <a:avLst/>
          </a:prstGeom>
          <a:blipFill>
            <a:blip r:embed="rId3"/>
            <a:tile tx="0" ty="0" sx="100000" sy="100000" flip="none" algn="tl"/>
          </a:blipFill>
        </p:spPr>
      </p:pic>
      <p:sp>
        <p:nvSpPr>
          <p:cNvPr id="5" name="文本框 4">
            <a:extLst>
              <a:ext uri="{FF2B5EF4-FFF2-40B4-BE49-F238E27FC236}">
                <a16:creationId xmlns:a16="http://schemas.microsoft.com/office/drawing/2014/main" id="{8F58A495-2205-FD1E-3C90-31744D4EE4A2}"/>
              </a:ext>
            </a:extLst>
          </p:cNvPr>
          <p:cNvSpPr txBox="1"/>
          <p:nvPr/>
        </p:nvSpPr>
        <p:spPr>
          <a:xfrm>
            <a:off x="4507230" y="2620010"/>
            <a:ext cx="4667885" cy="1323439"/>
          </a:xfrm>
          <a:prstGeom prst="rect">
            <a:avLst/>
          </a:prstGeom>
          <a:noFill/>
        </p:spPr>
        <p:txBody>
          <a:bodyPr wrap="square" rtlCol="0">
            <a:spAutoFit/>
          </a:bodyPr>
          <a:lstStyle/>
          <a:p>
            <a:r>
              <a:rPr lang="zh-CN" altLang="en-US" sz="8000" b="1" spc="800" dirty="0">
                <a:solidFill>
                  <a:srgbClr val="C00000"/>
                </a:solidFill>
                <a:uFillTx/>
              </a:rPr>
              <a:t>收获</a:t>
            </a:r>
          </a:p>
        </p:txBody>
      </p:sp>
      <p:pic>
        <p:nvPicPr>
          <p:cNvPr id="7" name="图片 6">
            <a:extLst>
              <a:ext uri="{FF2B5EF4-FFF2-40B4-BE49-F238E27FC236}">
                <a16:creationId xmlns:a16="http://schemas.microsoft.com/office/drawing/2014/main" id="{0C8ADF5B-09FF-C766-4610-8EC92C4F05C6}"/>
              </a:ext>
            </a:extLst>
          </p:cNvPr>
          <p:cNvPicPr>
            <a:picLocks noChangeAspect="1"/>
          </p:cNvPicPr>
          <p:nvPr/>
        </p:nvPicPr>
        <p:blipFill>
          <a:blip r:embed="rId4"/>
          <a:stretch>
            <a:fillRect/>
          </a:stretch>
        </p:blipFill>
        <p:spPr>
          <a:xfrm>
            <a:off x="11002845" y="-85696"/>
            <a:ext cx="1097506" cy="562358"/>
          </a:xfrm>
          <a:prstGeom prst="rect">
            <a:avLst/>
          </a:prstGeom>
        </p:spPr>
      </p:pic>
      <p:sp>
        <p:nvSpPr>
          <p:cNvPr id="12" name="六边形 11">
            <a:extLst>
              <a:ext uri="{FF2B5EF4-FFF2-40B4-BE49-F238E27FC236}">
                <a16:creationId xmlns:a16="http://schemas.microsoft.com/office/drawing/2014/main" id="{CE9E25D6-7CC3-CBFC-47D1-28484F6CAEDF}"/>
              </a:ext>
            </a:extLst>
          </p:cNvPr>
          <p:cNvSpPr/>
          <p:nvPr/>
        </p:nvSpPr>
        <p:spPr>
          <a:xfrm>
            <a:off x="1351280" y="2451735"/>
            <a:ext cx="2332990" cy="1657985"/>
          </a:xfrm>
          <a:prstGeom prst="hexagon">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sym typeface="+mn-ea"/>
              </a:rPr>
              <a:t>PART 06</a:t>
            </a:r>
            <a:endParaRPr lang="en-US" sz="4000" dirty="0"/>
          </a:p>
        </p:txBody>
      </p:sp>
      <p:sp>
        <p:nvSpPr>
          <p:cNvPr id="13" name="流程图: 手动输入 12">
            <a:extLst>
              <a:ext uri="{FF2B5EF4-FFF2-40B4-BE49-F238E27FC236}">
                <a16:creationId xmlns:a16="http://schemas.microsoft.com/office/drawing/2014/main" id="{1E241FCF-2DC8-009B-7CB7-FC4EAEDD8B6D}"/>
              </a:ext>
            </a:extLst>
          </p:cNvPr>
          <p:cNvSpPr/>
          <p:nvPr/>
        </p:nvSpPr>
        <p:spPr>
          <a:xfrm>
            <a:off x="8537575" y="5998845"/>
            <a:ext cx="3638550" cy="629285"/>
          </a:xfrm>
          <a:prstGeom prst="flowChartManualInput">
            <a:avLst/>
          </a:prstGeom>
          <a:gradFill>
            <a:gsLst>
              <a:gs pos="0">
                <a:srgbClr val="E30000"/>
              </a:gs>
              <a:gs pos="100000">
                <a:srgbClr val="760303"/>
              </a:gs>
            </a:gsLst>
            <a:path path="rect">
              <a:fillToRect l="100000" b="100000"/>
            </a:path>
            <a:tileRect t="-100000" r="-100000"/>
          </a:gra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20441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F2AE8-9BED-8F2A-E369-4F987674DF6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24D8819-6CE0-7685-BCCF-327682E64BC8}"/>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收获</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A2458FCA-5FA4-EDC7-7CF2-54C2435FAEAC}"/>
              </a:ext>
            </a:extLst>
          </p:cNvPr>
          <p:cNvSpPr txBox="1"/>
          <p:nvPr/>
        </p:nvSpPr>
        <p:spPr>
          <a:xfrm>
            <a:off x="749261" y="1913105"/>
            <a:ext cx="10693478" cy="3949799"/>
          </a:xfrm>
          <a:prstGeom prst="rect">
            <a:avLst/>
          </a:prstGeom>
          <a:noFill/>
        </p:spPr>
        <p:txBody>
          <a:bodyPr wrap="square">
            <a:spAutoFit/>
          </a:bodyPr>
          <a:lstStyle/>
          <a:p>
            <a:pPr algn="l">
              <a:spcBef>
                <a:spcPts val="1050"/>
              </a:spcBef>
              <a:buFont typeface="+mj-lt"/>
              <a:buAutoNum type="arabicPeriod"/>
            </a:pPr>
            <a:r>
              <a:rPr lang="zh-CN" altLang="en-US" sz="2800" b="1" i="0" dirty="0">
                <a:solidFill>
                  <a:srgbClr val="05073B"/>
                </a:solidFill>
                <a:effectLst/>
                <a:latin typeface="-apple-system"/>
              </a:rPr>
              <a:t>技术技能提升</a:t>
            </a:r>
            <a:r>
              <a:rPr lang="zh-CN" altLang="en-US" sz="2800" b="0" i="0" dirty="0">
                <a:solidFill>
                  <a:srgbClr val="05073B"/>
                </a:solidFill>
                <a:effectLst/>
                <a:latin typeface="PingFang-SC-Regular"/>
              </a:rPr>
              <a:t>：</a:t>
            </a:r>
          </a:p>
          <a:p>
            <a:pPr marL="742950" lvl="1" indent="-285750" algn="l">
              <a:spcBef>
                <a:spcPts val="1050"/>
              </a:spcBef>
              <a:buFont typeface="+mj-lt"/>
              <a:buAutoNum type="arabicPeriod"/>
            </a:pPr>
            <a:r>
              <a:rPr lang="zh-CN" altLang="en-US" sz="2800" b="1" i="0" dirty="0">
                <a:solidFill>
                  <a:srgbClr val="05073B"/>
                </a:solidFill>
                <a:effectLst/>
                <a:latin typeface="-apple-system"/>
              </a:rPr>
              <a:t>编程语言与框架</a:t>
            </a:r>
            <a:r>
              <a:rPr lang="zh-CN" altLang="en-US" sz="2800" b="0" i="0" dirty="0">
                <a:solidFill>
                  <a:srgbClr val="05073B"/>
                </a:solidFill>
                <a:effectLst/>
                <a:latin typeface="PingFang-SC-Regular"/>
              </a:rPr>
              <a:t>：深入学习了</a:t>
            </a:r>
            <a:r>
              <a:rPr lang="en-US" altLang="zh-CN" sz="2800" b="0" i="0" dirty="0">
                <a:solidFill>
                  <a:srgbClr val="05073B"/>
                </a:solidFill>
                <a:effectLst/>
                <a:latin typeface="PingFang-SC-Regular"/>
              </a:rPr>
              <a:t>Java</a:t>
            </a:r>
            <a:r>
              <a:rPr lang="zh-CN" altLang="en-US" sz="2800" b="0" i="0" dirty="0">
                <a:solidFill>
                  <a:srgbClr val="05073B"/>
                </a:solidFill>
                <a:effectLst/>
                <a:latin typeface="PingFang-SC-Regular"/>
              </a:rPr>
              <a:t>编程语言以及</a:t>
            </a:r>
            <a:r>
              <a:rPr lang="en-US" altLang="zh-CN" sz="2800" b="0" i="0" dirty="0">
                <a:solidFill>
                  <a:srgbClr val="05073B"/>
                </a:solidFill>
                <a:effectLst/>
                <a:latin typeface="PingFang-SC-Regular"/>
              </a:rPr>
              <a:t>JavaFX</a:t>
            </a:r>
            <a:r>
              <a:rPr lang="zh-CN" altLang="en-US" sz="2800" b="0" i="0" dirty="0">
                <a:solidFill>
                  <a:srgbClr val="05073B"/>
                </a:solidFill>
                <a:effectLst/>
                <a:latin typeface="PingFang-SC-Regular"/>
              </a:rPr>
              <a:t>框架，掌握了如何使用它们来构建图形用户界面和进行游戏开发。</a:t>
            </a:r>
          </a:p>
          <a:p>
            <a:pPr marL="742950" lvl="1" indent="-285750" algn="l">
              <a:spcBef>
                <a:spcPts val="450"/>
              </a:spcBef>
              <a:buFont typeface="+mj-lt"/>
              <a:buAutoNum type="arabicPeriod"/>
            </a:pPr>
            <a:r>
              <a:rPr lang="zh-CN" altLang="en-US" sz="2800" b="1" i="0" dirty="0">
                <a:solidFill>
                  <a:srgbClr val="05073B"/>
                </a:solidFill>
                <a:effectLst/>
                <a:latin typeface="-apple-system"/>
              </a:rPr>
              <a:t>游戏开发知识</a:t>
            </a:r>
            <a:r>
              <a:rPr lang="zh-CN" altLang="en-US" sz="2800" b="0" i="0" dirty="0">
                <a:solidFill>
                  <a:srgbClr val="05073B"/>
                </a:solidFill>
                <a:effectLst/>
                <a:latin typeface="PingFang-SC-Regular"/>
              </a:rPr>
              <a:t>：了解了游戏开发的基本流程，包括游戏设计、编程实现、测试调试等。</a:t>
            </a:r>
          </a:p>
          <a:p>
            <a:pPr marL="742950" lvl="1" indent="-285750" algn="l">
              <a:spcBef>
                <a:spcPts val="450"/>
              </a:spcBef>
              <a:buFont typeface="+mj-lt"/>
              <a:buAutoNum type="arabicPeriod"/>
            </a:pPr>
            <a:r>
              <a:rPr lang="zh-CN" altLang="en-US" sz="2800" b="1" i="0" dirty="0">
                <a:solidFill>
                  <a:srgbClr val="05073B"/>
                </a:solidFill>
                <a:effectLst/>
                <a:latin typeface="-apple-system"/>
              </a:rPr>
              <a:t>算法与数据结构</a:t>
            </a:r>
            <a:r>
              <a:rPr lang="zh-CN" altLang="en-US" sz="2800" b="0" i="0" dirty="0">
                <a:solidFill>
                  <a:srgbClr val="05073B"/>
                </a:solidFill>
                <a:effectLst/>
                <a:latin typeface="PingFang-SC-Regular"/>
              </a:rPr>
              <a:t>：在项目中应用了各种算法，如碰撞检测、寻路算法等，加深了对算法和数据结构的理解。</a:t>
            </a:r>
          </a:p>
          <a:p>
            <a:pPr algn="l">
              <a:spcBef>
                <a:spcPts val="1050"/>
              </a:spcBef>
            </a:pPr>
            <a:endParaRPr lang="zh-CN" altLang="en-US" sz="2800" b="0" i="0" dirty="0">
              <a:solidFill>
                <a:srgbClr val="05073B"/>
              </a:solidFill>
              <a:effectLst/>
              <a:latin typeface="-apple-system"/>
            </a:endParaRPr>
          </a:p>
        </p:txBody>
      </p:sp>
    </p:spTree>
    <p:extLst>
      <p:ext uri="{BB962C8B-B14F-4D97-AF65-F5344CB8AC3E}">
        <p14:creationId xmlns:p14="http://schemas.microsoft.com/office/powerpoint/2010/main" val="1041066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974BD-0727-D84A-789D-64811D02EB72}"/>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F90F28D-4199-384D-3F7B-E886EE65CD0B}"/>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收获</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3ECAE269-D677-0DAB-0595-25D2DBD7FD37}"/>
              </a:ext>
            </a:extLst>
          </p:cNvPr>
          <p:cNvSpPr txBox="1"/>
          <p:nvPr/>
        </p:nvSpPr>
        <p:spPr>
          <a:xfrm>
            <a:off x="980614" y="1935139"/>
            <a:ext cx="10693478" cy="3518912"/>
          </a:xfrm>
          <a:prstGeom prst="rect">
            <a:avLst/>
          </a:prstGeom>
          <a:noFill/>
        </p:spPr>
        <p:txBody>
          <a:bodyPr wrap="square">
            <a:spAutoFit/>
          </a:bodyPr>
          <a:lstStyle/>
          <a:p>
            <a:pPr algn="l">
              <a:spcBef>
                <a:spcPts val="450"/>
              </a:spcBef>
              <a:buFont typeface="+mj-lt"/>
              <a:buAutoNum type="arabicPeriod"/>
            </a:pPr>
            <a:r>
              <a:rPr lang="zh-CN" altLang="en-US" sz="2800" b="1" i="0" dirty="0">
                <a:solidFill>
                  <a:srgbClr val="05073B"/>
                </a:solidFill>
                <a:effectLst/>
                <a:latin typeface="-apple-system"/>
              </a:rPr>
              <a:t>团队协作经验</a:t>
            </a:r>
            <a:r>
              <a:rPr lang="zh-CN" altLang="en-US" sz="2800" b="0" i="0" dirty="0">
                <a:solidFill>
                  <a:srgbClr val="05073B"/>
                </a:solidFill>
                <a:effectLst/>
                <a:latin typeface="PingFang-SC-Regular"/>
              </a:rPr>
              <a:t>：</a:t>
            </a:r>
          </a:p>
          <a:p>
            <a:pPr marL="742950" lvl="1" indent="-285750" algn="l">
              <a:spcBef>
                <a:spcPts val="1050"/>
              </a:spcBef>
              <a:buFont typeface="+mj-lt"/>
              <a:buAutoNum type="arabicPeriod"/>
            </a:pPr>
            <a:r>
              <a:rPr lang="zh-CN" altLang="en-US" sz="2800" b="1" i="0" dirty="0">
                <a:solidFill>
                  <a:srgbClr val="05073B"/>
                </a:solidFill>
                <a:effectLst/>
                <a:latin typeface="-apple-system"/>
              </a:rPr>
              <a:t>沟通与协作</a:t>
            </a:r>
            <a:r>
              <a:rPr lang="zh-CN" altLang="en-US" sz="2800" b="0" i="0" dirty="0">
                <a:solidFill>
                  <a:srgbClr val="05073B"/>
                </a:solidFill>
                <a:effectLst/>
                <a:latin typeface="PingFang-SC-Regular"/>
              </a:rPr>
              <a:t>：学会了如何与团队成员有效沟通，共同解决问题，确保项目按时推进。</a:t>
            </a:r>
          </a:p>
          <a:p>
            <a:pPr marL="742950" lvl="1" indent="-285750" algn="l">
              <a:spcBef>
                <a:spcPts val="450"/>
              </a:spcBef>
              <a:buFont typeface="+mj-lt"/>
              <a:buAutoNum type="arabicPeriod"/>
            </a:pPr>
            <a:r>
              <a:rPr lang="zh-CN" altLang="en-US" sz="2800" b="1" i="0" dirty="0">
                <a:solidFill>
                  <a:srgbClr val="05073B"/>
                </a:solidFill>
                <a:effectLst/>
                <a:latin typeface="-apple-system"/>
              </a:rPr>
              <a:t>角色分工</a:t>
            </a:r>
            <a:r>
              <a:rPr lang="zh-CN" altLang="en-US" sz="2800" b="0" i="0" dirty="0">
                <a:solidFill>
                  <a:srgbClr val="05073B"/>
                </a:solidFill>
                <a:effectLst/>
                <a:latin typeface="PingFang-SC-Regular"/>
              </a:rPr>
              <a:t>：明确了自己在团队中的角色和职责，学会了如何与其他成员协作，共同完成任务。</a:t>
            </a:r>
          </a:p>
          <a:p>
            <a:pPr marL="742950" lvl="1" indent="-285750" algn="l">
              <a:spcBef>
                <a:spcPts val="450"/>
              </a:spcBef>
              <a:buFont typeface="+mj-lt"/>
              <a:buAutoNum type="arabicPeriod"/>
            </a:pPr>
            <a:r>
              <a:rPr lang="zh-CN" altLang="en-US" sz="2800" b="1" i="0" dirty="0">
                <a:solidFill>
                  <a:srgbClr val="05073B"/>
                </a:solidFill>
                <a:effectLst/>
                <a:latin typeface="-apple-system"/>
              </a:rPr>
              <a:t>团队文化</a:t>
            </a:r>
            <a:r>
              <a:rPr lang="zh-CN" altLang="en-US" sz="2800" b="0" i="0" dirty="0">
                <a:solidFill>
                  <a:srgbClr val="05073B"/>
                </a:solidFill>
                <a:effectLst/>
                <a:latin typeface="PingFang-SC-Regular"/>
              </a:rPr>
              <a:t>：融入了团队文化，增强了团队凝聚力和归属感。</a:t>
            </a:r>
          </a:p>
          <a:p>
            <a:pPr algn="l">
              <a:spcBef>
                <a:spcPts val="1050"/>
              </a:spcBef>
            </a:pPr>
            <a:endParaRPr lang="zh-CN" altLang="en-US" sz="2800" b="0" i="0" dirty="0">
              <a:solidFill>
                <a:srgbClr val="05073B"/>
              </a:solidFill>
              <a:effectLst/>
              <a:latin typeface="-apple-system"/>
            </a:endParaRPr>
          </a:p>
        </p:txBody>
      </p:sp>
    </p:spTree>
    <p:extLst>
      <p:ext uri="{BB962C8B-B14F-4D97-AF65-F5344CB8AC3E}">
        <p14:creationId xmlns:p14="http://schemas.microsoft.com/office/powerpoint/2010/main" val="789472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0C31-BAF4-BA46-26F2-FBBE6AD4067F}"/>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57F5712-3B0C-03A2-03D1-E367CD401457}"/>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收获</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449419F1-408E-B56A-FE75-ADE38CABE4C3}"/>
              </a:ext>
            </a:extLst>
          </p:cNvPr>
          <p:cNvSpPr txBox="1"/>
          <p:nvPr/>
        </p:nvSpPr>
        <p:spPr>
          <a:xfrm>
            <a:off x="639092" y="2221577"/>
            <a:ext cx="11343588" cy="3088025"/>
          </a:xfrm>
          <a:prstGeom prst="rect">
            <a:avLst/>
          </a:prstGeom>
          <a:noFill/>
        </p:spPr>
        <p:txBody>
          <a:bodyPr wrap="square">
            <a:spAutoFit/>
          </a:bodyPr>
          <a:lstStyle/>
          <a:p>
            <a:pPr algn="l">
              <a:spcBef>
                <a:spcPts val="450"/>
              </a:spcBef>
              <a:buFont typeface="+mj-lt"/>
              <a:buAutoNum type="arabicPeriod"/>
            </a:pPr>
            <a:r>
              <a:rPr lang="zh-CN" altLang="en-US" sz="2800" b="1" i="0" dirty="0">
                <a:solidFill>
                  <a:srgbClr val="05073B"/>
                </a:solidFill>
                <a:effectLst/>
                <a:latin typeface="-apple-system"/>
              </a:rPr>
              <a:t>项目管理能力</a:t>
            </a:r>
            <a:r>
              <a:rPr lang="zh-CN" altLang="en-US" sz="2800" b="0" i="0" dirty="0">
                <a:solidFill>
                  <a:srgbClr val="05073B"/>
                </a:solidFill>
                <a:effectLst/>
                <a:latin typeface="PingFang-SC-Regular"/>
              </a:rPr>
              <a:t>：</a:t>
            </a:r>
          </a:p>
          <a:p>
            <a:pPr marL="742950" lvl="1" indent="-285750" algn="l">
              <a:spcBef>
                <a:spcPts val="1050"/>
              </a:spcBef>
              <a:buFont typeface="+mj-lt"/>
              <a:buAutoNum type="arabicPeriod"/>
            </a:pPr>
            <a:r>
              <a:rPr lang="zh-CN" altLang="en-US" sz="2800" b="1" i="0" dirty="0">
                <a:solidFill>
                  <a:srgbClr val="05073B"/>
                </a:solidFill>
                <a:effectLst/>
                <a:latin typeface="-apple-system"/>
              </a:rPr>
              <a:t>时间管理</a:t>
            </a:r>
            <a:r>
              <a:rPr lang="zh-CN" altLang="en-US" sz="2800" b="0" i="0" dirty="0">
                <a:solidFill>
                  <a:srgbClr val="05073B"/>
                </a:solidFill>
                <a:effectLst/>
                <a:latin typeface="PingFang-SC-Regular"/>
              </a:rPr>
              <a:t>：学会了如何合理安排时间，确保项目任务按时完成。</a:t>
            </a:r>
          </a:p>
          <a:p>
            <a:pPr marL="742950" lvl="1" indent="-285750" algn="l">
              <a:spcBef>
                <a:spcPts val="450"/>
              </a:spcBef>
              <a:buFont typeface="+mj-lt"/>
              <a:buAutoNum type="arabicPeriod"/>
            </a:pPr>
            <a:r>
              <a:rPr lang="zh-CN" altLang="en-US" sz="2800" b="1" i="0" dirty="0">
                <a:solidFill>
                  <a:srgbClr val="05073B"/>
                </a:solidFill>
                <a:effectLst/>
                <a:latin typeface="-apple-system"/>
              </a:rPr>
              <a:t>任务分配</a:t>
            </a:r>
            <a:r>
              <a:rPr lang="zh-CN" altLang="en-US" sz="2800" b="0" i="0" dirty="0">
                <a:solidFill>
                  <a:srgbClr val="05073B"/>
                </a:solidFill>
                <a:effectLst/>
                <a:latin typeface="PingFang-SC-Regular"/>
              </a:rPr>
              <a:t>：了解了如何根据团队成员的能力和特长进行任务分配，提高开发效率。</a:t>
            </a:r>
          </a:p>
          <a:p>
            <a:pPr marL="742950" lvl="1" indent="-285750" algn="l">
              <a:spcBef>
                <a:spcPts val="450"/>
              </a:spcBef>
              <a:buFont typeface="+mj-lt"/>
              <a:buAutoNum type="arabicPeriod"/>
            </a:pPr>
            <a:r>
              <a:rPr lang="zh-CN" altLang="en-US" sz="2800" b="1" i="0" dirty="0">
                <a:solidFill>
                  <a:srgbClr val="05073B"/>
                </a:solidFill>
                <a:effectLst/>
                <a:latin typeface="-apple-system"/>
              </a:rPr>
              <a:t>风险管理</a:t>
            </a:r>
            <a:r>
              <a:rPr lang="zh-CN" altLang="en-US" sz="2800" b="0" i="0" dirty="0">
                <a:solidFill>
                  <a:srgbClr val="05073B"/>
                </a:solidFill>
                <a:effectLst/>
                <a:latin typeface="PingFang-SC-Regular"/>
              </a:rPr>
              <a:t>：学会了识别项目中的潜在风险，并制定相应的应对措施。</a:t>
            </a:r>
          </a:p>
          <a:p>
            <a:pPr algn="l">
              <a:spcBef>
                <a:spcPts val="1050"/>
              </a:spcBef>
            </a:pPr>
            <a:endParaRPr lang="zh-CN" altLang="en-US" sz="2800" b="0" i="0" dirty="0">
              <a:solidFill>
                <a:srgbClr val="05073B"/>
              </a:solidFill>
              <a:effectLst/>
              <a:latin typeface="-apple-system"/>
            </a:endParaRPr>
          </a:p>
        </p:txBody>
      </p:sp>
    </p:spTree>
    <p:extLst>
      <p:ext uri="{BB962C8B-B14F-4D97-AF65-F5344CB8AC3E}">
        <p14:creationId xmlns:p14="http://schemas.microsoft.com/office/powerpoint/2010/main" val="2308243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D67E-21C8-CD4B-9C4E-DC97920E5CE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F5944B9-96AE-4B49-FC6F-949176EE47C7}"/>
              </a:ext>
            </a:extLst>
          </p:cNvPr>
          <p:cNvSpPr txBox="1"/>
          <p:nvPr/>
        </p:nvSpPr>
        <p:spPr>
          <a:xfrm>
            <a:off x="189230" y="-138515"/>
            <a:ext cx="4064000" cy="583565"/>
          </a:xfrm>
          <a:prstGeom prst="rect">
            <a:avLst/>
          </a:prstGeom>
        </p:spPr>
        <p:txBody>
          <a:bodyPr>
            <a:spAutoFit/>
            <a:extLst>
              <a:ext uri="{4A0BC546-FE56-4ADE-93B0-CB8AF2F6F144}">
                <wpsdc:textFrameExt xmlns="" xmlns:wpsdc="http://www.wps.cn/officeDocument/2022/drawingmlCustomData" type="text"/>
              </a:ext>
            </a:extLst>
          </a:bodyPr>
          <a:lstStyle/>
          <a:p>
            <a:pPr algn="l"/>
            <a:r>
              <a:rPr lang="zh-CN" altLang="en-US" sz="3200" dirty="0">
                <a:solidFill>
                  <a:schemeClr val="bg1"/>
                </a:solidFill>
                <a:latin typeface="Arial" panose="020B0604020202020204" pitchFamily="34" charset="0"/>
                <a:ea typeface="微软雅黑" panose="020B0503020204020204" charset="-122"/>
              </a:rPr>
              <a:t>收获</a:t>
            </a:r>
            <a:endParaRPr lang="en-US" altLang="zh-CN" sz="3200" dirty="0">
              <a:solidFill>
                <a:schemeClr val="bg1"/>
              </a:solidFill>
              <a:latin typeface="Arial" panose="020B0604020202020204" pitchFamily="34" charset="0"/>
              <a:ea typeface="微软雅黑" panose="020B0503020204020204" charset="-122"/>
            </a:endParaRPr>
          </a:p>
        </p:txBody>
      </p:sp>
      <p:sp>
        <p:nvSpPr>
          <p:cNvPr id="4" name="文本框 3">
            <a:extLst>
              <a:ext uri="{FF2B5EF4-FFF2-40B4-BE49-F238E27FC236}">
                <a16:creationId xmlns:a16="http://schemas.microsoft.com/office/drawing/2014/main" id="{000500F3-8C54-5EF2-D66F-4806F9B35064}"/>
              </a:ext>
            </a:extLst>
          </p:cNvPr>
          <p:cNvSpPr txBox="1"/>
          <p:nvPr/>
        </p:nvSpPr>
        <p:spPr>
          <a:xfrm>
            <a:off x="749261" y="1659717"/>
            <a:ext cx="10693478" cy="4290918"/>
          </a:xfrm>
          <a:prstGeom prst="rect">
            <a:avLst/>
          </a:prstGeom>
          <a:noFill/>
        </p:spPr>
        <p:txBody>
          <a:bodyPr wrap="square">
            <a:spAutoFit/>
          </a:bodyPr>
          <a:lstStyle/>
          <a:p>
            <a:pPr algn="l">
              <a:spcBef>
                <a:spcPts val="450"/>
              </a:spcBef>
              <a:buFont typeface="+mj-lt"/>
              <a:buAutoNum type="arabicPeriod"/>
            </a:pPr>
            <a:r>
              <a:rPr lang="zh-CN" altLang="en-US" sz="2800" b="1" i="0" dirty="0">
                <a:solidFill>
                  <a:srgbClr val="05073B"/>
                </a:solidFill>
                <a:effectLst/>
                <a:latin typeface="-apple-system"/>
              </a:rPr>
              <a:t>问题解决能力</a:t>
            </a:r>
            <a:r>
              <a:rPr lang="zh-CN" altLang="en-US" sz="2800" b="0" i="0" dirty="0">
                <a:solidFill>
                  <a:srgbClr val="05073B"/>
                </a:solidFill>
                <a:effectLst/>
                <a:latin typeface="PingFang-SC-Regular"/>
              </a:rPr>
              <a:t>：</a:t>
            </a:r>
          </a:p>
          <a:p>
            <a:pPr marL="742950" lvl="1" indent="-285750" algn="l">
              <a:spcBef>
                <a:spcPts val="1050"/>
              </a:spcBef>
              <a:buFont typeface="+mj-lt"/>
              <a:buAutoNum type="arabicPeriod"/>
            </a:pPr>
            <a:r>
              <a:rPr lang="zh-CN" altLang="en-US" sz="2800" b="1" i="0" dirty="0">
                <a:solidFill>
                  <a:srgbClr val="05073B"/>
                </a:solidFill>
                <a:effectLst/>
                <a:latin typeface="-apple-system"/>
              </a:rPr>
              <a:t>调试与测试</a:t>
            </a:r>
            <a:r>
              <a:rPr lang="zh-CN" altLang="en-US" sz="2800" b="0" i="0" dirty="0">
                <a:solidFill>
                  <a:srgbClr val="05073B"/>
                </a:solidFill>
                <a:effectLst/>
                <a:latin typeface="PingFang-SC-Regular"/>
              </a:rPr>
              <a:t>：掌握了调试和测试的技巧，学会了如何快速定位并解决问题。</a:t>
            </a:r>
          </a:p>
          <a:p>
            <a:pPr marL="742950" lvl="1" indent="-285750" algn="l">
              <a:spcBef>
                <a:spcPts val="450"/>
              </a:spcBef>
              <a:buFont typeface="+mj-lt"/>
              <a:buAutoNum type="arabicPeriod"/>
            </a:pPr>
            <a:r>
              <a:rPr lang="zh-CN" altLang="en-US" sz="2800" b="1" i="0" dirty="0">
                <a:solidFill>
                  <a:srgbClr val="05073B"/>
                </a:solidFill>
                <a:effectLst/>
                <a:latin typeface="-apple-system"/>
              </a:rPr>
              <a:t>创新思维</a:t>
            </a:r>
            <a:r>
              <a:rPr lang="zh-CN" altLang="en-US" sz="2800" b="0" i="0" dirty="0">
                <a:solidFill>
                  <a:srgbClr val="05073B"/>
                </a:solidFill>
                <a:effectLst/>
                <a:latin typeface="PingFang-SC-Regular"/>
              </a:rPr>
              <a:t>：在面对项目难题时，学会了运用创新思维来寻找解决方案。</a:t>
            </a:r>
          </a:p>
          <a:p>
            <a:pPr marL="742950" lvl="1" indent="-285750" algn="l">
              <a:spcBef>
                <a:spcPts val="450"/>
              </a:spcBef>
              <a:buFont typeface="+mj-lt"/>
              <a:buAutoNum type="arabicPeriod"/>
            </a:pPr>
            <a:r>
              <a:rPr lang="zh-CN" altLang="en-US" sz="2800" b="1" i="0" dirty="0">
                <a:solidFill>
                  <a:srgbClr val="05073B"/>
                </a:solidFill>
                <a:effectLst/>
                <a:latin typeface="-apple-system"/>
              </a:rPr>
              <a:t>文档编写</a:t>
            </a:r>
            <a:r>
              <a:rPr lang="zh-CN" altLang="en-US" sz="2800" b="0" i="0" dirty="0">
                <a:solidFill>
                  <a:srgbClr val="05073B"/>
                </a:solidFill>
                <a:effectLst/>
                <a:latin typeface="PingFang-SC-Regular"/>
              </a:rPr>
              <a:t>：通过编写详细设计说明书等文档，提高了自己的文档编写能力，有助于更好地沟通和传承项目知识。</a:t>
            </a:r>
          </a:p>
          <a:p>
            <a:pPr algn="l">
              <a:spcBef>
                <a:spcPts val="450"/>
              </a:spcBef>
            </a:pPr>
            <a:endParaRPr lang="zh-CN" altLang="en-US" b="0" i="0" dirty="0">
              <a:solidFill>
                <a:srgbClr val="05073B"/>
              </a:solidFill>
              <a:effectLst/>
              <a:latin typeface="PingFang-SC-Regular"/>
            </a:endParaRPr>
          </a:p>
          <a:p>
            <a:pPr algn="l">
              <a:spcBef>
                <a:spcPts val="1050"/>
              </a:spcBef>
            </a:pPr>
            <a:endParaRPr lang="zh-CN" altLang="en-US" sz="2800" b="0" i="0" dirty="0">
              <a:solidFill>
                <a:srgbClr val="05073B"/>
              </a:solidFill>
              <a:effectLst/>
              <a:latin typeface="-apple-system"/>
            </a:endParaRPr>
          </a:p>
        </p:txBody>
      </p:sp>
    </p:spTree>
    <p:extLst>
      <p:ext uri="{BB962C8B-B14F-4D97-AF65-F5344CB8AC3E}">
        <p14:creationId xmlns:p14="http://schemas.microsoft.com/office/powerpoint/2010/main" val="3840685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p:cNvSpPr txBox="1"/>
          <p:nvPr/>
        </p:nvSpPr>
        <p:spPr>
          <a:xfrm>
            <a:off x="3793734" y="2241849"/>
            <a:ext cx="4635152" cy="1069375"/>
          </a:xfrm>
          <a:prstGeom prst="rect">
            <a:avLst/>
          </a:prstGeom>
          <a:noFill/>
        </p:spPr>
        <p:txBody>
          <a:bodyPr wrap="square" lIns="91419" tIns="45710" rIns="91419" bIns="45710" rtlCol="0">
            <a:spAutoFit/>
          </a:bodyPr>
          <a:lstStyle/>
          <a:p>
            <a:pPr algn="dist" defTabSz="457200"/>
            <a:r>
              <a:rPr lang="zh-CN" altLang="en-US" sz="6350" b="1" dirty="0">
                <a:solidFill>
                  <a:srgbClr val="FFFFFF"/>
                </a:solidFill>
                <a:effectLst>
                  <a:outerShdw blurRad="50800" dist="38100" dir="13500000" algn="br" rotWithShape="0">
                    <a:prstClr val="black">
                      <a:alpha val="40000"/>
                    </a:prstClr>
                  </a:outerShdw>
                </a:effectLst>
                <a:latin typeface="微软雅黑" panose="020B0503020204020204" charset="-122"/>
                <a:ea typeface="微软雅黑" panose="020B0503020204020204" charset="-122"/>
              </a:rPr>
              <a:t>谢谢</a:t>
            </a:r>
            <a:endParaRPr lang="en-US" altLang="zh-CN" sz="6350" b="1" dirty="0">
              <a:solidFill>
                <a:srgbClr val="FFFFFF"/>
              </a:solidFill>
              <a:effectLst>
                <a:outerShdw blurRad="50800" dist="38100" dir="13500000" algn="br" rotWithShape="0">
                  <a:prstClr val="black">
                    <a:alpha val="40000"/>
                  </a:prstClr>
                </a:outerShdw>
              </a:effectLst>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RjOTI5ZGMzMTQ0M2Q4Mjg1YmYxYjUwMWJmMjYyOWU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3.9,&quot;left&quot;:409.7,&quot;top&quot;:169.15,&quot;width&quot;:458.65}"/>
</p:tagLst>
</file>

<file path=ppt/theme/theme1.xml><?xml version="1.0" encoding="utf-8"?>
<a:theme xmlns:a="http://schemas.openxmlformats.org/drawingml/2006/main" name="自定义设计方案">
  <a:themeElements>
    <a:clrScheme name="自定义 2">
      <a:dk1>
        <a:sysClr val="windowText" lastClr="000000"/>
      </a:dk1>
      <a:lt1>
        <a:sysClr val="window" lastClr="FFFFFF"/>
      </a:lt1>
      <a:dk2>
        <a:srgbClr val="41615B"/>
      </a:dk2>
      <a:lt2>
        <a:srgbClr val="E7E6E6"/>
      </a:lt2>
      <a:accent1>
        <a:srgbClr val="4C7068"/>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ysClr val="windowText" lastClr="000000"/>
      </a:dk1>
      <a:lt1>
        <a:sysClr val="window" lastClr="FFFFFF"/>
      </a:lt1>
      <a:dk2>
        <a:srgbClr val="41615B"/>
      </a:dk2>
      <a:lt2>
        <a:srgbClr val="E7E6E6"/>
      </a:lt2>
      <a:accent1>
        <a:srgbClr val="4C7068"/>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自定义 2">
      <a:dk1>
        <a:sysClr val="windowText" lastClr="000000"/>
      </a:dk1>
      <a:lt1>
        <a:sysClr val="window" lastClr="FFFFFF"/>
      </a:lt1>
      <a:dk2>
        <a:srgbClr val="41615B"/>
      </a:dk2>
      <a:lt2>
        <a:srgbClr val="E7E6E6"/>
      </a:lt2>
      <a:accent1>
        <a:srgbClr val="4C7068"/>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自定义 2">
      <a:dk1>
        <a:sysClr val="windowText" lastClr="000000"/>
      </a:dk1>
      <a:lt1>
        <a:sysClr val="window" lastClr="FFFFFF"/>
      </a:lt1>
      <a:dk2>
        <a:srgbClr val="41615B"/>
      </a:dk2>
      <a:lt2>
        <a:srgbClr val="E7E6E6"/>
      </a:lt2>
      <a:accent1>
        <a:srgbClr val="4C7068"/>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lgn="l">
          <a:defRPr sz="1400" b="1" dirty="0">
            <a:latin typeface="Calibri" panose="020F0502020204030204" pitchFamily="34" charset="0"/>
            <a:ea typeface="宋体" panose="02010600030101010101" pitchFamily="2" charset="-122"/>
            <a:cs typeface="Times New Roman" panose="02020603050405020304" pitchFamily="18" charset="0"/>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自定义 2">
      <a:dk1>
        <a:sysClr val="windowText" lastClr="000000"/>
      </a:dk1>
      <a:lt1>
        <a:sysClr val="window" lastClr="FFFFFF"/>
      </a:lt1>
      <a:dk2>
        <a:srgbClr val="41615B"/>
      </a:dk2>
      <a:lt2>
        <a:srgbClr val="E7E6E6"/>
      </a:lt2>
      <a:accent1>
        <a:srgbClr val="4C7068"/>
      </a:accent1>
      <a:accent2>
        <a:srgbClr val="ED7D31"/>
      </a:accent2>
      <a:accent3>
        <a:srgbClr val="F2F2F2"/>
      </a:accent3>
      <a:accent4>
        <a:srgbClr val="FFC000"/>
      </a:accent4>
      <a:accent5>
        <a:srgbClr val="6F3B55"/>
      </a:accent5>
      <a:accent6>
        <a:srgbClr val="85C0FB"/>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square">
        <a:spAutoFit/>
      </a:bodyPr>
      <a:lstStyle>
        <a:defPPr algn="l">
          <a:defRPr sz="1400" b="1" dirty="0">
            <a:latin typeface="Calibri" panose="020F0502020204030204" pitchFamily="34" charset="0"/>
            <a:ea typeface="宋体" panose="02010600030101010101" pitchFamily="2" charset="-122"/>
            <a:cs typeface="Times New Roman" panose="02020603050405020304" pitchFamily="18" charset="0"/>
          </a:defRPr>
        </a:defPPr>
      </a:lstStyle>
      <a:style>
        <a:lnRef idx="2">
          <a:schemeClr val="accent1"/>
        </a:lnRef>
        <a:fillRef idx="1">
          <a:schemeClr val="lt1"/>
        </a:fillRef>
        <a:effectRef idx="0">
          <a:schemeClr val="accent1"/>
        </a:effectRef>
        <a:fontRef idx="minor">
          <a:schemeClr val="dk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中软国际2020鲲鹏PPT">
      <a:dk1>
        <a:srgbClr val="000000"/>
      </a:dk1>
      <a:lt1>
        <a:srgbClr val="FFFFFF"/>
      </a:lt1>
      <a:dk2>
        <a:srgbClr val="898989"/>
      </a:dk2>
      <a:lt2>
        <a:srgbClr val="D3D3D3"/>
      </a:lt2>
      <a:accent1>
        <a:srgbClr val="590202"/>
      </a:accent1>
      <a:accent2>
        <a:srgbClr val="A00E15"/>
      </a:accent2>
      <a:accent3>
        <a:srgbClr val="DC0816"/>
      </a:accent3>
      <a:accent4>
        <a:srgbClr val="F27405"/>
      </a:accent4>
      <a:accent5>
        <a:srgbClr val="DC0816"/>
      </a:accent5>
      <a:accent6>
        <a:srgbClr val="F8B53C"/>
      </a:accent6>
      <a:hlink>
        <a:srgbClr val="0563C1"/>
      </a:hlink>
      <a:folHlink>
        <a:srgbClr val="7030A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自定义 24">
      <a:dk1>
        <a:srgbClr val="000000"/>
      </a:dk1>
      <a:lt1>
        <a:srgbClr val="FFFFFF"/>
      </a:lt1>
      <a:dk2>
        <a:srgbClr val="44546A"/>
      </a:dk2>
      <a:lt2>
        <a:srgbClr val="E6E6E6"/>
      </a:lt2>
      <a:accent1>
        <a:srgbClr val="1F608B"/>
      </a:accent1>
      <a:accent2>
        <a:srgbClr val="2980B9"/>
      </a:accent2>
      <a:accent3>
        <a:srgbClr val="4098D4"/>
      </a:accent3>
      <a:accent4>
        <a:srgbClr val="73B4E1"/>
      </a:accent4>
      <a:accent5>
        <a:srgbClr val="9FCBE9"/>
      </a:accent5>
      <a:accent6>
        <a:srgbClr val="C6E0F2"/>
      </a:accent6>
      <a:hlink>
        <a:srgbClr val="F79646"/>
      </a:hlink>
      <a:folHlink>
        <a:srgbClr val="F79646"/>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自定义设计方案">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1493</Words>
  <Application>Microsoft Office PowerPoint</Application>
  <PresentationFormat>宽屏</PresentationFormat>
  <Paragraphs>170</Paragraphs>
  <Slides>32</Slides>
  <Notes>0</Notes>
  <HiddenSlides>0</HiddenSlides>
  <MMClips>0</MMClips>
  <ScaleCrop>false</ScaleCrop>
  <HeadingPairs>
    <vt:vector size="6" baseType="variant">
      <vt:variant>
        <vt:lpstr>已用的字体</vt:lpstr>
      </vt:variant>
      <vt:variant>
        <vt:i4>7</vt:i4>
      </vt:variant>
      <vt:variant>
        <vt:lpstr>主题</vt:lpstr>
      </vt:variant>
      <vt:variant>
        <vt:i4>8</vt:i4>
      </vt:variant>
      <vt:variant>
        <vt:lpstr>幻灯片标题</vt:lpstr>
      </vt:variant>
      <vt:variant>
        <vt:i4>32</vt:i4>
      </vt:variant>
    </vt:vector>
  </HeadingPairs>
  <TitlesOfParts>
    <vt:vector size="47" baseType="lpstr">
      <vt:lpstr>-apple-system</vt:lpstr>
      <vt:lpstr>Helvetica Neue</vt:lpstr>
      <vt:lpstr>PingFang-SC-Regular</vt:lpstr>
      <vt:lpstr>等线</vt:lpstr>
      <vt:lpstr>微软雅黑</vt:lpstr>
      <vt:lpstr>Arial</vt:lpstr>
      <vt:lpstr>Calibri</vt:lpstr>
      <vt:lpstr>自定义设计方案</vt:lpstr>
      <vt:lpstr>1_自定义设计方案</vt:lpstr>
      <vt:lpstr>2_自定义设计方案</vt:lpstr>
      <vt:lpstr>3_自定义设计方案</vt:lpstr>
      <vt:lpstr>4_自定义设计方案</vt:lpstr>
      <vt:lpstr>5_自定义设计方案</vt:lpstr>
      <vt:lpstr>Office Theme</vt:lpstr>
      <vt:lpstr>6_自定义设计方案</vt:lpstr>
      <vt:lpstr> 西北工业大学-软件基础能力训练 项目评审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IIG战略市场部（作业一）</dc:title>
  <dc:creator>Administrator</dc:creator>
  <cp:lastModifiedBy>雨 甘</cp:lastModifiedBy>
  <cp:revision>2655</cp:revision>
  <cp:lastPrinted>2022-06-01T08:14:00Z</cp:lastPrinted>
  <dcterms:created xsi:type="dcterms:W3CDTF">2015-05-05T08:02:00Z</dcterms:created>
  <dcterms:modified xsi:type="dcterms:W3CDTF">2024-12-28T03:53:27Z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2052-12.1.0.18909</vt:lpwstr>
  </property>
  <property fmtid="{D5CDD505-2E9C-101B-9397-08002B2CF9AE}" pid="3" name="KSORubyTemplateID">
    <vt:lpwstr>2</vt:lpwstr>
  </property>
  <property fmtid="{D5CDD505-2E9C-101B-9397-08002B2CF9AE}" pid="4" name="ICV">
    <vt:lpwstr>F6F228E55A074440BC0F38D6A5389E0F_13</vt:lpwstr>
  </property>
</Properties>
</file>